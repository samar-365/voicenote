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8" r:id="rId3"/>
    <p:sldId id="258" r:id="rId4"/>
    <p:sldId id="260" r:id="rId5"/>
    <p:sldId id="259" r:id="rId6"/>
    <p:sldId id="262" r:id="rId7"/>
    <p:sldId id="264" r:id="rId8"/>
    <p:sldId id="267" r:id="rId9"/>
    <p:sldId id="271" r:id="rId10"/>
    <p:sldId id="273" r:id="rId11"/>
    <p:sldId id="272" r:id="rId12"/>
    <p:sldId id="274" r:id="rId13"/>
    <p:sldId id="275" r:id="rId14"/>
    <p:sldId id="270" r:id="rId15"/>
    <p:sldId id="276" r:id="rId16"/>
    <p:sldId id="277"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1F5AF4-4AA4-48AB-BE19-A7A90C84E517}"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DEC49E-5AA1-4076-9D7C-DBC8FBF758A8}" type="slidenum">
              <a:rPr lang="en-US" smtClean="0"/>
              <a:t>‹#›</a:t>
            </a:fld>
            <a:endParaRPr lang="en-US"/>
          </a:p>
        </p:txBody>
      </p:sp>
    </p:spTree>
    <p:extLst>
      <p:ext uri="{BB962C8B-B14F-4D97-AF65-F5344CB8AC3E}">
        <p14:creationId xmlns:p14="http://schemas.microsoft.com/office/powerpoint/2010/main" val="2794468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703320" cy="685800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73637" y="229895"/>
            <a:ext cx="3297150" cy="917174"/>
          </a:xfrm>
          <a:prstGeom prst="rect">
            <a:avLst/>
          </a:prstGeom>
          <a:noFill/>
        </p:spPr>
        <p:txBody>
          <a:bodyPr wrap="square" lIns="27432" tIns="27432" rIns="27432" bIns="27432" anchor="t">
            <a:spAutoFit/>
          </a:bodyPr>
          <a:lstStyle/>
          <a:p>
            <a:pPr algn="l"/>
            <a:r>
              <a:rPr lang="en-US" sz="2800" b="1" dirty="0">
                <a:solidFill>
                  <a:schemeClr val="accent6">
                    <a:lumMod val="20000"/>
                    <a:lumOff val="80000"/>
                  </a:schemeClr>
                </a:solidFill>
              </a:rPr>
              <a:t>Recent Open-Source Project Lab</a:t>
            </a:r>
            <a:endParaRPr sz="2800" b="1" i="0" dirty="0">
              <a:solidFill>
                <a:schemeClr val="accent6">
                  <a:lumMod val="20000"/>
                  <a:lumOff val="80000"/>
                </a:schemeClr>
              </a:solidFill>
              <a:latin typeface="Aptos"/>
            </a:endParaRPr>
          </a:p>
        </p:txBody>
      </p:sp>
      <p:sp>
        <p:nvSpPr>
          <p:cNvPr id="4" name="TextBox 3"/>
          <p:cNvSpPr txBox="1"/>
          <p:nvPr/>
        </p:nvSpPr>
        <p:spPr>
          <a:xfrm>
            <a:off x="173637" y="1241542"/>
            <a:ext cx="2702086" cy="270843"/>
          </a:xfrm>
          <a:prstGeom prst="rect">
            <a:avLst/>
          </a:prstGeom>
          <a:noFill/>
        </p:spPr>
        <p:txBody>
          <a:bodyPr wrap="none" lIns="27432" tIns="27432" rIns="27432" bIns="27432" anchor="t">
            <a:spAutoFit/>
          </a:bodyPr>
          <a:lstStyle/>
          <a:p>
            <a:pPr algn="l"/>
            <a:r>
              <a:rPr sz="1400" b="0" i="0" dirty="0">
                <a:solidFill>
                  <a:srgbClr val="C8D3E1"/>
                </a:solidFill>
                <a:latin typeface="Aptos"/>
              </a:rPr>
              <a:t>B.E. INFORMATION TECHNOLOGY</a:t>
            </a:r>
          </a:p>
        </p:txBody>
      </p:sp>
      <p:sp>
        <p:nvSpPr>
          <p:cNvPr id="5" name="TextBox 4"/>
          <p:cNvSpPr txBox="1"/>
          <p:nvPr/>
        </p:nvSpPr>
        <p:spPr>
          <a:xfrm>
            <a:off x="4251960" y="1097280"/>
            <a:ext cx="6858000" cy="731520"/>
          </a:xfrm>
          <a:prstGeom prst="rect">
            <a:avLst/>
          </a:prstGeom>
          <a:noFill/>
        </p:spPr>
        <p:txBody>
          <a:bodyPr wrap="none" lIns="27432" tIns="27432" rIns="27432" bIns="27432" anchor="t">
            <a:spAutoFit/>
          </a:bodyPr>
          <a:lstStyle/>
          <a:p>
            <a:pPr algn="l"/>
            <a:r>
              <a:rPr sz="3800" b="1" i="0" dirty="0" err="1">
                <a:solidFill>
                  <a:srgbClr val="11223A"/>
                </a:solidFill>
                <a:latin typeface="Aptos"/>
              </a:rPr>
              <a:t>VoiceNote</a:t>
            </a:r>
            <a:endParaRPr sz="3800" b="1" i="0" dirty="0">
              <a:solidFill>
                <a:srgbClr val="11223A"/>
              </a:solidFill>
              <a:latin typeface="Aptos"/>
            </a:endParaRPr>
          </a:p>
        </p:txBody>
      </p:sp>
      <p:sp>
        <p:nvSpPr>
          <p:cNvPr id="6" name="TextBox 5"/>
          <p:cNvSpPr txBox="1"/>
          <p:nvPr/>
        </p:nvSpPr>
        <p:spPr>
          <a:xfrm>
            <a:off x="4279392" y="1847088"/>
            <a:ext cx="6675120" cy="594360"/>
          </a:xfrm>
          <a:prstGeom prst="rect">
            <a:avLst/>
          </a:prstGeom>
          <a:noFill/>
        </p:spPr>
        <p:txBody>
          <a:bodyPr wrap="none" lIns="27432" tIns="27432" rIns="27432" bIns="27432" anchor="t">
            <a:spAutoFit/>
          </a:bodyPr>
          <a:lstStyle/>
          <a:p>
            <a:pPr algn="l"/>
            <a:r>
              <a:rPr sz="2200" b="1" i="0" dirty="0">
                <a:solidFill>
                  <a:srgbClr val="2468BE"/>
                </a:solidFill>
                <a:latin typeface="Aptos"/>
              </a:rPr>
              <a:t>Multi-Functional Voice Intelligence System</a:t>
            </a:r>
          </a:p>
        </p:txBody>
      </p:sp>
      <p:sp>
        <p:nvSpPr>
          <p:cNvPr id="7" name="TextBox 6"/>
          <p:cNvSpPr txBox="1"/>
          <p:nvPr/>
        </p:nvSpPr>
        <p:spPr>
          <a:xfrm>
            <a:off x="4279392" y="2578608"/>
            <a:ext cx="4846968" cy="563231"/>
          </a:xfrm>
          <a:prstGeom prst="rect">
            <a:avLst/>
          </a:prstGeom>
          <a:noFill/>
        </p:spPr>
        <p:txBody>
          <a:bodyPr wrap="none" lIns="27432" tIns="27432" rIns="27432" bIns="27432" anchor="t">
            <a:spAutoFit/>
          </a:bodyPr>
          <a:lstStyle/>
          <a:p>
            <a:pPr>
              <a:defRPr sz="1300">
                <a:solidFill>
                  <a:srgbClr val="555560"/>
                </a:solidFill>
                <a:latin typeface="Segoe UI"/>
              </a:defRPr>
            </a:pPr>
            <a:r>
              <a:t>LISTEN. UNDERSTAND. ORGANIZE. ACT.</a:t>
            </a:r>
          </a:p>
          <a:p>
            <a:pPr>
              <a:defRPr sz="1300">
                <a:solidFill>
                  <a:srgbClr val="555560"/>
                </a:solidFill>
                <a:latin typeface="Segoe UI"/>
              </a:defRPr>
            </a:pPr>
            <a:r>
              <a:t>Privacy-First Hybrid Dual-Database &amp; File Storage System</a:t>
            </a:r>
          </a:p>
        </p:txBody>
      </p:sp>
      <p:sp>
        <p:nvSpPr>
          <p:cNvPr id="8" name="Rounded Rectangle 7"/>
          <p:cNvSpPr/>
          <p:nvPr/>
        </p:nvSpPr>
        <p:spPr>
          <a:xfrm>
            <a:off x="4297680" y="3858768"/>
            <a:ext cx="1170432" cy="292608"/>
          </a:xfrm>
          <a:prstGeom prst="roundRect">
            <a:avLst/>
          </a:prstGeom>
          <a:solidFill>
            <a:srgbClr val="246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97680" y="3877055"/>
            <a:ext cx="1170432" cy="228600"/>
          </a:xfrm>
          <a:prstGeom prst="rect">
            <a:avLst/>
          </a:prstGeom>
          <a:noFill/>
        </p:spPr>
        <p:txBody>
          <a:bodyPr wrap="none" lIns="27432" tIns="27432" rIns="27432" bIns="27432" anchor="t">
            <a:spAutoFit/>
          </a:bodyPr>
          <a:lstStyle/>
          <a:p>
            <a:pPr algn="ctr"/>
            <a:r>
              <a:rPr sz="950" b="1" i="0">
                <a:solidFill>
                  <a:srgbClr val="FFFFFF"/>
                </a:solidFill>
                <a:latin typeface="Aptos"/>
              </a:rPr>
              <a:t>VOICE</a:t>
            </a:r>
          </a:p>
        </p:txBody>
      </p:sp>
      <p:sp>
        <p:nvSpPr>
          <p:cNvPr id="10" name="TextBox 9"/>
          <p:cNvSpPr txBox="1"/>
          <p:nvPr/>
        </p:nvSpPr>
        <p:spPr>
          <a:xfrm>
            <a:off x="5650992" y="3858768"/>
            <a:ext cx="941832" cy="363176"/>
          </a:xfrm>
          <a:prstGeom prst="rect">
            <a:avLst/>
          </a:prstGeom>
          <a:noFill/>
        </p:spPr>
        <p:txBody>
          <a:bodyPr wrap="square" lIns="27432" tIns="27432" rIns="27432" bIns="27432" anchor="t">
            <a:spAutoFit/>
          </a:bodyPr>
          <a:lstStyle/>
          <a:p>
            <a:pPr algn="ctr"/>
            <a:r>
              <a:rPr sz="2000" b="1" i="0" dirty="0">
                <a:solidFill>
                  <a:srgbClr val="5D6A79"/>
                </a:solidFill>
                <a:latin typeface="Aptos"/>
              </a:rPr>
              <a:t>→</a:t>
            </a:r>
          </a:p>
        </p:txBody>
      </p:sp>
      <p:sp>
        <p:nvSpPr>
          <p:cNvPr id="11" name="Rounded Rectangle 10"/>
          <p:cNvSpPr/>
          <p:nvPr/>
        </p:nvSpPr>
        <p:spPr>
          <a:xfrm>
            <a:off x="7004304" y="3858768"/>
            <a:ext cx="1170432" cy="292608"/>
          </a:xfrm>
          <a:prstGeom prst="roundRect">
            <a:avLst/>
          </a:prstGeom>
          <a:solidFill>
            <a:srgbClr val="19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04304" y="3877055"/>
            <a:ext cx="1170432" cy="228600"/>
          </a:xfrm>
          <a:prstGeom prst="rect">
            <a:avLst/>
          </a:prstGeom>
          <a:noFill/>
        </p:spPr>
        <p:txBody>
          <a:bodyPr wrap="none" lIns="27432" tIns="27432" rIns="27432" bIns="27432" anchor="t">
            <a:spAutoFit/>
          </a:bodyPr>
          <a:lstStyle/>
          <a:p>
            <a:pPr algn="ctr"/>
            <a:r>
              <a:rPr sz="950" b="1" i="0">
                <a:solidFill>
                  <a:srgbClr val="FFFFFF"/>
                </a:solidFill>
                <a:latin typeface="Aptos"/>
              </a:rPr>
              <a:t>TRANSCRIPT</a:t>
            </a:r>
          </a:p>
        </p:txBody>
      </p:sp>
      <p:sp>
        <p:nvSpPr>
          <p:cNvPr id="13" name="TextBox 12"/>
          <p:cNvSpPr txBox="1"/>
          <p:nvPr/>
        </p:nvSpPr>
        <p:spPr>
          <a:xfrm>
            <a:off x="8514443" y="3858768"/>
            <a:ext cx="411480" cy="411480"/>
          </a:xfrm>
          <a:prstGeom prst="rect">
            <a:avLst/>
          </a:prstGeom>
          <a:noFill/>
        </p:spPr>
        <p:txBody>
          <a:bodyPr wrap="none" lIns="27432" tIns="27432" rIns="27432" bIns="27432" anchor="t">
            <a:spAutoFit/>
          </a:bodyPr>
          <a:lstStyle/>
          <a:p>
            <a:pPr algn="ctr"/>
            <a:r>
              <a:rPr sz="2000" b="1" i="0">
                <a:solidFill>
                  <a:srgbClr val="5D6A79"/>
                </a:solidFill>
                <a:latin typeface="Aptos"/>
              </a:rPr>
              <a:t>→</a:t>
            </a:r>
          </a:p>
        </p:txBody>
      </p:sp>
      <p:sp>
        <p:nvSpPr>
          <p:cNvPr id="14" name="Rounded Rectangle 13"/>
          <p:cNvSpPr/>
          <p:nvPr/>
        </p:nvSpPr>
        <p:spPr>
          <a:xfrm>
            <a:off x="9454896" y="3882658"/>
            <a:ext cx="1170432" cy="292608"/>
          </a:xfrm>
          <a:prstGeom prst="roundRect">
            <a:avLst/>
          </a:prstGeom>
          <a:solidFill>
            <a:srgbClr val="775B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54896" y="3900945"/>
            <a:ext cx="1170432" cy="228600"/>
          </a:xfrm>
          <a:prstGeom prst="rect">
            <a:avLst/>
          </a:prstGeom>
          <a:noFill/>
        </p:spPr>
        <p:txBody>
          <a:bodyPr wrap="none" lIns="27432" tIns="27432" rIns="27432" bIns="27432" anchor="t">
            <a:spAutoFit/>
          </a:bodyPr>
          <a:lstStyle/>
          <a:p>
            <a:pPr algn="ctr"/>
            <a:r>
              <a:rPr sz="950" b="1" i="0">
                <a:solidFill>
                  <a:srgbClr val="FFFFFF"/>
                </a:solidFill>
                <a:latin typeface="Aptos"/>
              </a:rPr>
              <a:t>KNOWLEDGE</a:t>
            </a:r>
          </a:p>
        </p:txBody>
      </p:sp>
      <p:sp>
        <p:nvSpPr>
          <p:cNvPr id="16" name="TextBox 15"/>
          <p:cNvSpPr txBox="1"/>
          <p:nvPr/>
        </p:nvSpPr>
        <p:spPr>
          <a:xfrm>
            <a:off x="4297680" y="4892040"/>
            <a:ext cx="1107932" cy="332399"/>
          </a:xfrm>
          <a:prstGeom prst="rect">
            <a:avLst/>
          </a:prstGeom>
          <a:noFill/>
        </p:spPr>
        <p:txBody>
          <a:bodyPr wrap="none" lIns="27432" tIns="27432" rIns="27432" bIns="27432" anchor="t">
            <a:spAutoFit/>
          </a:bodyPr>
          <a:lstStyle/>
          <a:p>
            <a:pPr algn="l"/>
            <a:r>
              <a:rPr b="1" i="0" dirty="0">
                <a:solidFill>
                  <a:srgbClr val="5D6A79"/>
                </a:solidFill>
                <a:latin typeface="Aptos"/>
              </a:rPr>
              <a:t>Guided by</a:t>
            </a:r>
          </a:p>
        </p:txBody>
      </p:sp>
      <p:sp>
        <p:nvSpPr>
          <p:cNvPr id="17" name="TextBox 16"/>
          <p:cNvSpPr txBox="1"/>
          <p:nvPr/>
        </p:nvSpPr>
        <p:spPr>
          <a:xfrm>
            <a:off x="5484062" y="4904529"/>
            <a:ext cx="1817421" cy="332399"/>
          </a:xfrm>
          <a:prstGeom prst="rect">
            <a:avLst/>
          </a:prstGeom>
          <a:noFill/>
        </p:spPr>
        <p:txBody>
          <a:bodyPr wrap="none" lIns="27432" tIns="27432" rIns="27432" bIns="27432" anchor="t">
            <a:spAutoFit/>
          </a:bodyPr>
          <a:lstStyle/>
          <a:p>
            <a:pPr algn="l"/>
            <a:r>
              <a:rPr b="1" i="0" dirty="0">
                <a:solidFill>
                  <a:srgbClr val="11223A"/>
                </a:solidFill>
                <a:latin typeface="Aptos"/>
              </a:rPr>
              <a:t>Prof. Omkar Dike</a:t>
            </a:r>
          </a:p>
        </p:txBody>
      </p:sp>
      <p:sp>
        <p:nvSpPr>
          <p:cNvPr id="18" name="TextBox 17"/>
          <p:cNvSpPr txBox="1"/>
          <p:nvPr/>
        </p:nvSpPr>
        <p:spPr>
          <a:xfrm>
            <a:off x="4297680" y="5321808"/>
            <a:ext cx="614014" cy="332399"/>
          </a:xfrm>
          <a:prstGeom prst="rect">
            <a:avLst/>
          </a:prstGeom>
          <a:noFill/>
        </p:spPr>
        <p:txBody>
          <a:bodyPr wrap="none" lIns="27432" tIns="27432" rIns="27432" bIns="27432" anchor="t">
            <a:spAutoFit/>
          </a:bodyPr>
          <a:lstStyle/>
          <a:p>
            <a:pPr algn="l"/>
            <a:r>
              <a:rPr b="1" i="0">
                <a:solidFill>
                  <a:srgbClr val="5D6A79"/>
                </a:solidFill>
                <a:latin typeface="Aptos"/>
              </a:rPr>
              <a:t>Team</a:t>
            </a:r>
          </a:p>
        </p:txBody>
      </p:sp>
      <p:sp>
        <p:nvSpPr>
          <p:cNvPr id="19" name="TextBox 18"/>
          <p:cNvSpPr txBox="1"/>
          <p:nvPr/>
        </p:nvSpPr>
        <p:spPr>
          <a:xfrm>
            <a:off x="5230368" y="5285232"/>
            <a:ext cx="4777077" cy="332399"/>
          </a:xfrm>
          <a:prstGeom prst="rect">
            <a:avLst/>
          </a:prstGeom>
          <a:noFill/>
        </p:spPr>
        <p:txBody>
          <a:bodyPr wrap="none" lIns="27432" tIns="27432" rIns="27432" bIns="27432" anchor="t">
            <a:spAutoFit/>
          </a:bodyPr>
          <a:lstStyle/>
          <a:p>
            <a:pPr algn="l"/>
            <a:r>
              <a:rPr b="1" i="0" dirty="0">
                <a:solidFill>
                  <a:srgbClr val="11223A"/>
                </a:solidFill>
                <a:latin typeface="Aptos"/>
              </a:rPr>
              <a:t>Tejas Rawool  •  Samar </a:t>
            </a:r>
            <a:r>
              <a:rPr b="1" i="0" dirty="0" err="1">
                <a:solidFill>
                  <a:srgbClr val="11223A"/>
                </a:solidFill>
                <a:latin typeface="Aptos"/>
              </a:rPr>
              <a:t>Shetye</a:t>
            </a:r>
            <a:r>
              <a:rPr b="1" i="0" dirty="0">
                <a:solidFill>
                  <a:srgbClr val="11223A"/>
                </a:solidFill>
                <a:latin typeface="Aptos"/>
              </a:rPr>
              <a:t>  •  Atharv </a:t>
            </a:r>
            <a:r>
              <a:rPr b="1" i="0" dirty="0" err="1">
                <a:solidFill>
                  <a:srgbClr val="11223A"/>
                </a:solidFill>
                <a:latin typeface="Aptos"/>
              </a:rPr>
              <a:t>Pavar</a:t>
            </a:r>
            <a:endParaRPr b="1" i="0" dirty="0">
              <a:solidFill>
                <a:srgbClr val="11223A"/>
              </a:solidFill>
              <a:latin typeface="Aptos"/>
            </a:endParaRPr>
          </a:p>
        </p:txBody>
      </p:sp>
      <p:sp>
        <p:nvSpPr>
          <p:cNvPr id="20" name="TextBox 19"/>
          <p:cNvSpPr txBox="1"/>
          <p:nvPr/>
        </p:nvSpPr>
        <p:spPr>
          <a:xfrm>
            <a:off x="173637" y="6519672"/>
            <a:ext cx="2011680" cy="274320"/>
          </a:xfrm>
          <a:prstGeom prst="rect">
            <a:avLst/>
          </a:prstGeom>
          <a:noFill/>
        </p:spPr>
        <p:txBody>
          <a:bodyPr wrap="none" lIns="27432" tIns="27432" rIns="27432" bIns="27432" anchor="t">
            <a:spAutoFit/>
          </a:bodyPr>
          <a:lstStyle/>
          <a:p>
            <a:pPr algn="l"/>
            <a:r>
              <a:rPr sz="1050" b="1" i="0" dirty="0">
                <a:solidFill>
                  <a:srgbClr val="FFFFFF"/>
                </a:solidFill>
                <a:latin typeface="Aptos"/>
              </a:rPr>
              <a:t>SEMESTER VII</a:t>
            </a:r>
          </a:p>
        </p:txBody>
      </p:sp>
      <p:sp>
        <p:nvSpPr>
          <p:cNvPr id="21" name="TextBox 20"/>
          <p:cNvSpPr txBox="1"/>
          <p:nvPr/>
        </p:nvSpPr>
        <p:spPr>
          <a:xfrm>
            <a:off x="10899648" y="6519672"/>
            <a:ext cx="731520" cy="201168"/>
          </a:xfrm>
          <a:prstGeom prst="rect">
            <a:avLst/>
          </a:prstGeom>
          <a:noFill/>
        </p:spPr>
        <p:txBody>
          <a:bodyPr wrap="none" lIns="27432" tIns="27432" rIns="27432" bIns="27432" anchor="t">
            <a:spAutoFit/>
          </a:bodyPr>
          <a:lstStyle/>
          <a:p>
            <a:pPr>
              <a:defRPr sz="1000">
                <a:latin typeface="Segoe UI"/>
              </a:defRPr>
            </a:pPr>
            <a:r>
              <a:t>01 / 17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hape 34">
            <a:extLst>
              <a:ext uri="{FF2B5EF4-FFF2-40B4-BE49-F238E27FC236}">
                <a16:creationId xmlns:a16="http://schemas.microsoft.com/office/drawing/2014/main" id="{29A67B3A-2A07-523A-1D9E-284DBD5EB6C2}"/>
              </a:ext>
            </a:extLst>
          </p:cNvPr>
          <p:cNvSpPr/>
          <p:nvPr/>
        </p:nvSpPr>
        <p:spPr>
          <a:xfrm>
            <a:off x="473235" y="3102583"/>
            <a:ext cx="10858156" cy="1977403"/>
          </a:xfrm>
          <a:prstGeom prst="roundRect">
            <a:avLst>
              <a:gd name="adj" fmla="val 10526"/>
            </a:avLst>
          </a:prstGeom>
          <a:solidFill>
            <a:srgbClr val="ECFDF5"/>
          </a:solidFill>
          <a:ln w="12700">
            <a:solidFill>
              <a:srgbClr val="A7F3D0"/>
            </a:solidFill>
            <a:prstDash val="solid"/>
          </a:ln>
          <a:effectLst>
            <a:outerShdw blurRad="101600" dist="38100" dir="5400000" algn="bl" rotWithShape="0">
              <a:srgbClr val="1E293B">
                <a:alpha val="10000"/>
              </a:srgbClr>
            </a:outerShdw>
          </a:effectLst>
        </p:spPr>
        <p:txBody>
          <a:bodyPr/>
          <a:lstStyle/>
          <a:p>
            <a:endParaRPr lang="en-US" dirty="0"/>
          </a:p>
        </p:txBody>
      </p:sp>
      <p:sp>
        <p:nvSpPr>
          <p:cNvPr id="2" name="TextBox 1"/>
          <p:cNvSpPr txBox="1"/>
          <p:nvPr/>
        </p:nvSpPr>
        <p:spPr>
          <a:xfrm>
            <a:off x="566928" y="347472"/>
            <a:ext cx="2256772" cy="486287"/>
          </a:xfrm>
          <a:prstGeom prst="rect">
            <a:avLst/>
          </a:prstGeom>
          <a:noFill/>
        </p:spPr>
        <p:txBody>
          <a:bodyPr wrap="none" lIns="27432" tIns="27432" rIns="27432" bIns="27432" anchor="t">
            <a:spAutoFit/>
          </a:bodyPr>
          <a:lstStyle/>
          <a:p>
            <a:pPr marL="0" indent="0">
              <a:buNone/>
            </a:pPr>
            <a:r>
              <a:rPr lang="en-US" sz="2800" b="1" dirty="0">
                <a:solidFill>
                  <a:srgbClr val="0F172A"/>
                </a:solidFill>
                <a:latin typeface="Plus Jakarta Sans" pitchFamily="34" charset="0"/>
                <a:ea typeface="Plus Jakarta Sans" pitchFamily="34" charset="-122"/>
                <a:cs typeface="Plus Jakarta Sans" pitchFamily="34" charset="-120"/>
              </a:rPr>
              <a:t>The Problem</a:t>
            </a:r>
            <a:endParaRPr lang="en-US" sz="2800" dirty="0"/>
          </a:p>
        </p:txBody>
      </p:sp>
      <p:sp>
        <p:nvSpPr>
          <p:cNvPr id="3" name="TextBox 2"/>
          <p:cNvSpPr txBox="1"/>
          <p:nvPr/>
        </p:nvSpPr>
        <p:spPr>
          <a:xfrm>
            <a:off x="585216" y="877824"/>
            <a:ext cx="5317097" cy="278538"/>
          </a:xfrm>
          <a:prstGeom prst="rect">
            <a:avLst/>
          </a:prstGeom>
          <a:noFill/>
        </p:spPr>
        <p:txBody>
          <a:bodyPr wrap="none" lIns="27432" tIns="27432" rIns="27432" bIns="27432" anchor="t">
            <a:spAutoFit/>
          </a:bodyPr>
          <a:lstStyle/>
          <a:p>
            <a:pPr algn="l"/>
            <a:r>
              <a:rPr sz="1450" b="0" i="0" dirty="0">
                <a:solidFill>
                  <a:srgbClr val="5D6A79"/>
                </a:solidFill>
                <a:latin typeface="Aptos"/>
              </a:rPr>
              <a:t>Traditional recorders capture audio </a:t>
            </a:r>
            <a:r>
              <a:rPr lang="en-US" sz="1450" b="0" i="0" dirty="0">
                <a:solidFill>
                  <a:srgbClr val="5D6A79"/>
                </a:solidFill>
                <a:latin typeface="Aptos"/>
              </a:rPr>
              <a:t>-</a:t>
            </a:r>
            <a:r>
              <a:rPr sz="1450" b="0" i="0" dirty="0">
                <a:solidFill>
                  <a:srgbClr val="5D6A79"/>
                </a:solidFill>
                <a:latin typeface="Aptos"/>
              </a:rPr>
              <a:t>but they do not understand it.</a:t>
            </a:r>
          </a:p>
        </p:txBody>
      </p:sp>
      <p:sp>
        <p:nvSpPr>
          <p:cNvPr id="4" name="Rectangle 3"/>
          <p:cNvSpPr/>
          <p:nvPr/>
        </p:nvSpPr>
        <p:spPr>
          <a:xfrm>
            <a:off x="566928" y="1261872"/>
            <a:ext cx="960120" cy="50292"/>
          </a:xfrm>
          <a:prstGeom prst="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18520" y="411480"/>
            <a:ext cx="594360" cy="320040"/>
          </a:xfrm>
          <a:prstGeom prst="rect">
            <a:avLst/>
          </a:prstGeom>
          <a:noFill/>
        </p:spPr>
        <p:txBody>
          <a:bodyPr wrap="none" lIns="27432" tIns="27432" rIns="27432" bIns="27432" anchor="t">
            <a:spAutoFit/>
          </a:bodyPr>
          <a:lstStyle/>
          <a:p>
            <a:pPr algn="r"/>
            <a:r>
              <a:rPr sz="1200" b="1" i="0">
                <a:solidFill>
                  <a:srgbClr val="5D6A79"/>
                </a:solidFill>
                <a:latin typeface="Aptos"/>
              </a:rPr>
              <a:t>02</a:t>
            </a:r>
          </a:p>
        </p:txBody>
      </p:sp>
      <p:sp>
        <p:nvSpPr>
          <p:cNvPr id="30" name="TextBox 29"/>
          <p:cNvSpPr txBox="1"/>
          <p:nvPr/>
        </p:nvSpPr>
        <p:spPr>
          <a:xfrm>
            <a:off x="566928" y="6519672"/>
            <a:ext cx="8138160" cy="201168"/>
          </a:xfrm>
          <a:prstGeom prst="rect">
            <a:avLst/>
          </a:prstGeom>
          <a:noFill/>
        </p:spPr>
        <p:txBody>
          <a:bodyPr wrap="none" lIns="27432" tIns="27432" rIns="27432" bIns="27432" anchor="t">
            <a:spAutoFit/>
          </a:bodyPr>
          <a:lstStyle/>
          <a:p>
            <a:pPr algn="l"/>
            <a:r>
              <a:rPr sz="850" b="0" i="0" dirty="0" err="1">
                <a:solidFill>
                  <a:srgbClr val="5D6A79"/>
                </a:solidFill>
                <a:latin typeface="Aptos"/>
              </a:rPr>
              <a:t>VoiceNote</a:t>
            </a:r>
            <a:r>
              <a:rPr sz="850" b="0" i="0" dirty="0">
                <a:solidFill>
                  <a:srgbClr val="5D6A79"/>
                </a:solidFill>
                <a:latin typeface="Aptos"/>
              </a:rPr>
              <a:t>  •  Open Source Project Lab  •  B.E. IT  •  Semester VII</a:t>
            </a:r>
          </a:p>
        </p:txBody>
      </p:sp>
      <p:sp>
        <p:nvSpPr>
          <p:cNvPr id="31" name="TextBox 30"/>
          <p:cNvSpPr txBox="1"/>
          <p:nvPr/>
        </p:nvSpPr>
        <p:spPr>
          <a:xfrm>
            <a:off x="10881360" y="6519672"/>
            <a:ext cx="731520" cy="201168"/>
          </a:xfrm>
          <a:prstGeom prst="rect">
            <a:avLst/>
          </a:prstGeom>
          <a:noFill/>
        </p:spPr>
        <p:txBody>
          <a:bodyPr wrap="none" lIns="27432" tIns="27432" rIns="27432" bIns="27432" anchor="t">
            <a:spAutoFit/>
          </a:bodyPr>
          <a:lstStyle/>
          <a:p>
            <a:pPr algn="r"/>
            <a:r>
              <a:rPr sz="850" b="0" i="0">
                <a:solidFill>
                  <a:srgbClr val="5D6A79"/>
                </a:solidFill>
                <a:latin typeface="Aptos"/>
              </a:rPr>
              <a:t>02 / 14</a:t>
            </a:r>
          </a:p>
        </p:txBody>
      </p:sp>
      <p:sp>
        <p:nvSpPr>
          <p:cNvPr id="33" name="TextBox 32">
            <a:extLst>
              <a:ext uri="{FF2B5EF4-FFF2-40B4-BE49-F238E27FC236}">
                <a16:creationId xmlns:a16="http://schemas.microsoft.com/office/drawing/2014/main" id="{91CD9E9C-B2F4-891E-D2E3-DC4094E5E46F}"/>
              </a:ext>
            </a:extLst>
          </p:cNvPr>
          <p:cNvSpPr txBox="1"/>
          <p:nvPr/>
        </p:nvSpPr>
        <p:spPr>
          <a:xfrm>
            <a:off x="585216" y="1584475"/>
            <a:ext cx="10746175" cy="3831818"/>
          </a:xfrm>
          <a:prstGeom prst="rect">
            <a:avLst/>
          </a:prstGeom>
          <a:noFill/>
        </p:spPr>
        <p:txBody>
          <a:bodyPr wrap="square">
            <a:spAutoFit/>
          </a:bodyPr>
          <a:lstStyle/>
          <a:p>
            <a:r>
              <a:rPr lang="en-US" dirty="0"/>
              <a:t>Traditional voice recorder applications only store audio files and do not help users quickly understand or retrieve the information they contain. Users often spend time replaying recordings, taking manual notes, and searching for important details.</a:t>
            </a:r>
            <a:br>
              <a:rPr lang="en-US" dirty="0"/>
            </a:br>
            <a:br>
              <a:rPr lang="en-US" dirty="0"/>
            </a:br>
            <a:endParaRPr lang="en-US" dirty="0"/>
          </a:p>
          <a:p>
            <a:endParaRPr lang="en-US" dirty="0"/>
          </a:p>
          <a:p>
            <a:r>
              <a:rPr lang="en-US" dirty="0"/>
              <a:t>Key Challenges</a:t>
            </a:r>
            <a:br>
              <a:rPr lang="en-US" dirty="0"/>
            </a:br>
            <a:endParaRPr lang="en-US" dirty="0"/>
          </a:p>
          <a:p>
            <a:pPr>
              <a:lnSpc>
                <a:spcPct val="150000"/>
              </a:lnSpc>
            </a:pPr>
            <a:r>
              <a:rPr lang="en-US" dirty="0"/>
              <a:t>● Difficult to search recorded audio.               ● No automatic summaries or task extraction. </a:t>
            </a:r>
          </a:p>
          <a:p>
            <a:pPr>
              <a:lnSpc>
                <a:spcPct val="150000"/>
              </a:lnSpc>
            </a:pPr>
            <a:r>
              <a:rPr lang="en-US" dirty="0"/>
              <a:t>● Time-consuming manual note-taking.         ●  Important information is hard to find. </a:t>
            </a:r>
          </a:p>
          <a:p>
            <a:pPr>
              <a:lnSpc>
                <a:spcPct val="150000"/>
              </a:lnSpc>
            </a:pPr>
            <a:r>
              <a:rPr lang="en-US" dirty="0"/>
              <a:t>● Poor organization of voice recordings.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9875520" cy="502920"/>
          </a:xfrm>
          <a:prstGeom prst="rect">
            <a:avLst/>
          </a:prstGeom>
          <a:noFill/>
        </p:spPr>
        <p:txBody>
          <a:bodyPr wrap="none" lIns="27432" tIns="27432" rIns="27432" bIns="27432" anchor="t">
            <a:spAutoFit/>
          </a:bodyPr>
          <a:lstStyle/>
          <a:p>
            <a:pPr algn="l"/>
            <a:r>
              <a:rPr sz="2800" b="1" i="0" dirty="0">
                <a:solidFill>
                  <a:srgbClr val="11223A"/>
                </a:solidFill>
                <a:latin typeface="Aptos"/>
              </a:rPr>
              <a:t>Proposed Solution</a:t>
            </a:r>
          </a:p>
        </p:txBody>
      </p:sp>
      <p:sp>
        <p:nvSpPr>
          <p:cNvPr id="3" name="TextBox 2"/>
          <p:cNvSpPr txBox="1"/>
          <p:nvPr/>
        </p:nvSpPr>
        <p:spPr>
          <a:xfrm>
            <a:off x="585216" y="877824"/>
            <a:ext cx="10424160" cy="384048"/>
          </a:xfrm>
          <a:prstGeom prst="rect">
            <a:avLst/>
          </a:prstGeom>
          <a:noFill/>
        </p:spPr>
        <p:txBody>
          <a:bodyPr wrap="none" lIns="27432" tIns="27432" rIns="27432" bIns="27432" anchor="t">
            <a:spAutoFit/>
          </a:bodyPr>
          <a:lstStyle/>
          <a:p>
            <a:r>
              <a:rPr dirty="0" err="1"/>
              <a:t>VoiceNote</a:t>
            </a:r>
            <a:r>
              <a:rPr dirty="0"/>
              <a:t> transforms raw speech into structured, actionable, and conceptually searchable knowledge.</a:t>
            </a:r>
          </a:p>
        </p:txBody>
      </p:sp>
      <p:sp>
        <p:nvSpPr>
          <p:cNvPr id="4" name="Rectangle 3"/>
          <p:cNvSpPr/>
          <p:nvPr/>
        </p:nvSpPr>
        <p:spPr>
          <a:xfrm>
            <a:off x="566928" y="1261872"/>
            <a:ext cx="960120" cy="50292"/>
          </a:xfrm>
          <a:prstGeom prst="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18520" y="411480"/>
            <a:ext cx="594360" cy="320040"/>
          </a:xfrm>
          <a:prstGeom prst="rect">
            <a:avLst/>
          </a:prstGeom>
          <a:noFill/>
        </p:spPr>
        <p:txBody>
          <a:bodyPr wrap="none" lIns="27432" tIns="27432" rIns="27432" bIns="27432" anchor="t">
            <a:spAutoFit/>
          </a:bodyPr>
          <a:lstStyle/>
          <a:p>
            <a:pPr algn="r"/>
            <a:r>
              <a:rPr sz="1200" b="1" i="0">
                <a:solidFill>
                  <a:srgbClr val="5D6A79"/>
                </a:solidFill>
                <a:latin typeface="Aptos"/>
              </a:rPr>
              <a:t>03</a:t>
            </a:r>
          </a:p>
        </p:txBody>
      </p:sp>
      <p:sp>
        <p:nvSpPr>
          <p:cNvPr id="8" name="Rounded Rectangle 7"/>
          <p:cNvSpPr/>
          <p:nvPr/>
        </p:nvSpPr>
        <p:spPr>
          <a:xfrm>
            <a:off x="566928" y="4256578"/>
            <a:ext cx="1938528" cy="1207008"/>
          </a:xfrm>
          <a:prstGeom prst="roundRect">
            <a:avLst/>
          </a:prstGeom>
          <a:solidFill>
            <a:srgbClr val="E7F1FD"/>
          </a:solidFill>
          <a:ln w="15240">
            <a:solidFill>
              <a:srgbClr val="246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1217" y="4370248"/>
            <a:ext cx="1024511" cy="301621"/>
          </a:xfrm>
          <a:prstGeom prst="rect">
            <a:avLst/>
          </a:prstGeom>
          <a:noFill/>
        </p:spPr>
        <p:txBody>
          <a:bodyPr wrap="none" lIns="27432" tIns="27432" rIns="27432" bIns="27432" anchor="t">
            <a:spAutoFit/>
          </a:bodyPr>
          <a:lstStyle/>
          <a:p>
            <a:pPr algn="ctr"/>
            <a:r>
              <a:rPr sz="1600" b="1" i="0" dirty="0">
                <a:solidFill>
                  <a:srgbClr val="11223A"/>
                </a:solidFill>
                <a:latin typeface="Aptos"/>
              </a:rPr>
              <a:t>1. Capture</a:t>
            </a:r>
          </a:p>
        </p:txBody>
      </p:sp>
      <p:sp>
        <p:nvSpPr>
          <p:cNvPr id="10" name="TextBox 9"/>
          <p:cNvSpPr txBox="1"/>
          <p:nvPr/>
        </p:nvSpPr>
        <p:spPr>
          <a:xfrm>
            <a:off x="915531" y="4783973"/>
            <a:ext cx="1854254" cy="547842"/>
          </a:xfrm>
          <a:prstGeom prst="rect">
            <a:avLst/>
          </a:prstGeom>
          <a:noFill/>
        </p:spPr>
        <p:txBody>
          <a:bodyPr wrap="square" lIns="27432" tIns="27432" rIns="27432" bIns="27432" anchor="ctr">
            <a:spAutoFit/>
          </a:bodyPr>
          <a:lstStyle/>
          <a:p>
            <a:r>
              <a:rPr sz="1600" b="1" dirty="0"/>
              <a:t>Mic + WASAPI Loopback</a:t>
            </a:r>
          </a:p>
        </p:txBody>
      </p:sp>
      <p:cxnSp>
        <p:nvCxnSpPr>
          <p:cNvPr id="11" name="Connector 10"/>
          <p:cNvCxnSpPr/>
          <p:nvPr/>
        </p:nvCxnSpPr>
        <p:spPr>
          <a:xfrm>
            <a:off x="2482738" y="4873930"/>
            <a:ext cx="301752" cy="0"/>
          </a:xfrm>
          <a:prstGeom prst="line">
            <a:avLst/>
          </a:prstGeom>
          <a:ln w="17780">
            <a:solidFill>
              <a:srgbClr val="5D6A79"/>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11922" y="4270426"/>
            <a:ext cx="1938528" cy="1207008"/>
          </a:xfrm>
          <a:prstGeom prst="roundRect">
            <a:avLst/>
          </a:prstGeom>
          <a:solidFill>
            <a:srgbClr val="E5F7F3"/>
          </a:solidFill>
          <a:ln w="15240">
            <a:solidFill>
              <a:srgbClr val="198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191751" y="4336775"/>
            <a:ext cx="1299762" cy="332399"/>
          </a:xfrm>
          <a:prstGeom prst="rect">
            <a:avLst/>
          </a:prstGeom>
          <a:noFill/>
        </p:spPr>
        <p:txBody>
          <a:bodyPr wrap="square" lIns="27432" tIns="27432" rIns="27432" bIns="27432" anchor="t">
            <a:spAutoFit/>
          </a:bodyPr>
          <a:lstStyle/>
          <a:p>
            <a:r>
              <a:rPr dirty="0"/>
              <a:t>2. Transcribe</a:t>
            </a:r>
          </a:p>
        </p:txBody>
      </p:sp>
      <p:sp>
        <p:nvSpPr>
          <p:cNvPr id="14" name="TextBox 13"/>
          <p:cNvSpPr txBox="1"/>
          <p:nvPr/>
        </p:nvSpPr>
        <p:spPr>
          <a:xfrm>
            <a:off x="3155249" y="4800713"/>
            <a:ext cx="1356207" cy="301621"/>
          </a:xfrm>
          <a:prstGeom prst="rect">
            <a:avLst/>
          </a:prstGeom>
          <a:noFill/>
        </p:spPr>
        <p:txBody>
          <a:bodyPr wrap="square" lIns="27432" tIns="27432" rIns="27432" bIns="27432" anchor="ctr">
            <a:spAutoFit/>
          </a:bodyPr>
          <a:lstStyle/>
          <a:p>
            <a:r>
              <a:rPr sz="1600" b="1" dirty="0"/>
              <a:t>Faster-Whisper</a:t>
            </a:r>
            <a:r>
              <a:rPr sz="1400" b="1" dirty="0"/>
              <a:t> </a:t>
            </a:r>
            <a:endParaRPr lang="en-US" sz="1400" b="1" dirty="0"/>
          </a:p>
        </p:txBody>
      </p:sp>
      <p:cxnSp>
        <p:nvCxnSpPr>
          <p:cNvPr id="15" name="Connector 14"/>
          <p:cNvCxnSpPr/>
          <p:nvPr/>
        </p:nvCxnSpPr>
        <p:spPr>
          <a:xfrm>
            <a:off x="4750450" y="4873930"/>
            <a:ext cx="301752" cy="0"/>
          </a:xfrm>
          <a:prstGeom prst="line">
            <a:avLst/>
          </a:prstGeom>
          <a:ln w="17780">
            <a:solidFill>
              <a:srgbClr val="5D6A79"/>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79634" y="4270426"/>
            <a:ext cx="1938528" cy="1207008"/>
          </a:xfrm>
          <a:prstGeom prst="roundRect">
            <a:avLst/>
          </a:prstGeom>
          <a:solidFill>
            <a:srgbClr val="FDF1E4"/>
          </a:solidFill>
          <a:ln w="15240">
            <a:solidFill>
              <a:srgbClr val="E784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65986" y="4398442"/>
            <a:ext cx="1365823" cy="301621"/>
          </a:xfrm>
          <a:prstGeom prst="rect">
            <a:avLst/>
          </a:prstGeom>
          <a:noFill/>
        </p:spPr>
        <p:txBody>
          <a:bodyPr wrap="none" lIns="27432" tIns="27432" rIns="27432" bIns="27432" anchor="t">
            <a:spAutoFit/>
          </a:bodyPr>
          <a:lstStyle/>
          <a:p>
            <a:r>
              <a:t>3. Diarize &amp; AI</a:t>
            </a:r>
          </a:p>
        </p:txBody>
      </p:sp>
      <p:sp>
        <p:nvSpPr>
          <p:cNvPr id="18" name="TextBox 17"/>
          <p:cNvSpPr txBox="1"/>
          <p:nvPr/>
        </p:nvSpPr>
        <p:spPr>
          <a:xfrm>
            <a:off x="5326917" y="4795884"/>
            <a:ext cx="1642373" cy="547842"/>
          </a:xfrm>
          <a:prstGeom prst="rect">
            <a:avLst/>
          </a:prstGeom>
          <a:noFill/>
        </p:spPr>
        <p:txBody>
          <a:bodyPr wrap="square" lIns="27432" tIns="27432" rIns="27432" bIns="27432" anchor="ctr">
            <a:spAutoFit/>
          </a:bodyPr>
          <a:lstStyle/>
          <a:p>
            <a:r>
              <a:rPr sz="1600" b="1" dirty="0"/>
              <a:t>Speaker Turns + Gemini 3.8 Flash</a:t>
            </a:r>
          </a:p>
        </p:txBody>
      </p:sp>
      <p:cxnSp>
        <p:nvCxnSpPr>
          <p:cNvPr id="19" name="Connector 18"/>
          <p:cNvCxnSpPr/>
          <p:nvPr/>
        </p:nvCxnSpPr>
        <p:spPr>
          <a:xfrm>
            <a:off x="7018162" y="4873930"/>
            <a:ext cx="301751" cy="0"/>
          </a:xfrm>
          <a:prstGeom prst="line">
            <a:avLst/>
          </a:prstGeom>
          <a:ln w="17780">
            <a:solidFill>
              <a:srgbClr val="5D6A79"/>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347346" y="4270426"/>
            <a:ext cx="1938528" cy="1207008"/>
          </a:xfrm>
          <a:prstGeom prst="roundRect">
            <a:avLst/>
          </a:prstGeom>
          <a:solidFill>
            <a:srgbClr val="F1ECFA"/>
          </a:solidFill>
          <a:ln w="15240">
            <a:solidFill>
              <a:srgbClr val="775B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41837" y="4398442"/>
            <a:ext cx="1149545" cy="301621"/>
          </a:xfrm>
          <a:prstGeom prst="rect">
            <a:avLst/>
          </a:prstGeom>
          <a:noFill/>
        </p:spPr>
        <p:txBody>
          <a:bodyPr wrap="none" lIns="27432" tIns="27432" rIns="27432" bIns="27432" anchor="t">
            <a:spAutoFit/>
          </a:bodyPr>
          <a:lstStyle/>
          <a:p>
            <a:r>
              <a:t>4. Structure</a:t>
            </a:r>
          </a:p>
        </p:txBody>
      </p:sp>
      <p:sp>
        <p:nvSpPr>
          <p:cNvPr id="22" name="TextBox 21"/>
          <p:cNvSpPr txBox="1"/>
          <p:nvPr/>
        </p:nvSpPr>
        <p:spPr>
          <a:xfrm>
            <a:off x="7568862" y="4802435"/>
            <a:ext cx="1770212" cy="547842"/>
          </a:xfrm>
          <a:prstGeom prst="rect">
            <a:avLst/>
          </a:prstGeom>
          <a:noFill/>
        </p:spPr>
        <p:txBody>
          <a:bodyPr wrap="square" lIns="27432" tIns="27432" rIns="27432" bIns="27432" anchor="ctr">
            <a:spAutoFit/>
          </a:bodyPr>
          <a:lstStyle/>
          <a:p>
            <a:r>
              <a:rPr sz="1600" b="1" dirty="0"/>
              <a:t>Tasks, Priorities, Summaries</a:t>
            </a:r>
          </a:p>
        </p:txBody>
      </p:sp>
      <p:cxnSp>
        <p:nvCxnSpPr>
          <p:cNvPr id="23" name="Connector 22"/>
          <p:cNvCxnSpPr/>
          <p:nvPr/>
        </p:nvCxnSpPr>
        <p:spPr>
          <a:xfrm>
            <a:off x="9285874" y="4873930"/>
            <a:ext cx="301752" cy="0"/>
          </a:xfrm>
          <a:prstGeom prst="line">
            <a:avLst/>
          </a:prstGeom>
          <a:ln w="17780">
            <a:solidFill>
              <a:srgbClr val="5D6A79"/>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15058" y="4270426"/>
            <a:ext cx="1938528" cy="1207008"/>
          </a:xfrm>
          <a:prstGeom prst="roundRect">
            <a:avLst/>
          </a:prstGeom>
          <a:solidFill>
            <a:srgbClr val="E7F1FD"/>
          </a:solidFill>
          <a:ln w="15240">
            <a:solidFill>
              <a:srgbClr val="246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12218" y="4389421"/>
            <a:ext cx="1489343" cy="332399"/>
          </a:xfrm>
          <a:prstGeom prst="rect">
            <a:avLst/>
          </a:prstGeom>
          <a:noFill/>
        </p:spPr>
        <p:txBody>
          <a:bodyPr wrap="square" lIns="27432" tIns="27432" rIns="27432" bIns="27432" anchor="t">
            <a:spAutoFit/>
          </a:bodyPr>
          <a:lstStyle/>
          <a:p>
            <a:r>
              <a:rPr dirty="0"/>
              <a:t>5. Vector Index</a:t>
            </a:r>
          </a:p>
        </p:txBody>
      </p:sp>
      <p:sp>
        <p:nvSpPr>
          <p:cNvPr id="26" name="TextBox 25"/>
          <p:cNvSpPr txBox="1"/>
          <p:nvPr/>
        </p:nvSpPr>
        <p:spPr>
          <a:xfrm>
            <a:off x="9721457" y="4798567"/>
            <a:ext cx="1859561" cy="547842"/>
          </a:xfrm>
          <a:prstGeom prst="rect">
            <a:avLst/>
          </a:prstGeom>
          <a:noFill/>
        </p:spPr>
        <p:txBody>
          <a:bodyPr wrap="square" lIns="27432" tIns="27432" rIns="27432" bIns="27432" anchor="ctr">
            <a:spAutoFit/>
          </a:bodyPr>
          <a:lstStyle/>
          <a:p>
            <a:r>
              <a:rPr sz="1600" b="1" dirty="0" err="1"/>
              <a:t>ChromaDB</a:t>
            </a:r>
            <a:r>
              <a:rPr sz="1600" b="1" dirty="0"/>
              <a:t> </a:t>
            </a:r>
            <a:r>
              <a:rPr lang="en-US" sz="1600" b="1" dirty="0"/>
              <a:t>for </a:t>
            </a:r>
          </a:p>
          <a:p>
            <a:r>
              <a:rPr lang="en-US" sz="1600" b="1" dirty="0"/>
              <a:t>semantic</a:t>
            </a:r>
            <a:r>
              <a:rPr sz="1600" b="1" dirty="0"/>
              <a:t> Search</a:t>
            </a:r>
          </a:p>
        </p:txBody>
      </p:sp>
      <p:sp>
        <p:nvSpPr>
          <p:cNvPr id="44" name="TextBox 43"/>
          <p:cNvSpPr txBox="1"/>
          <p:nvPr/>
        </p:nvSpPr>
        <p:spPr>
          <a:xfrm>
            <a:off x="566928" y="6519672"/>
            <a:ext cx="8138160" cy="201168"/>
          </a:xfrm>
          <a:prstGeom prst="rect">
            <a:avLst/>
          </a:prstGeom>
          <a:noFill/>
        </p:spPr>
        <p:txBody>
          <a:bodyPr wrap="none" lIns="27432" tIns="27432" rIns="27432" bIns="27432" anchor="t">
            <a:spAutoFit/>
          </a:bodyPr>
          <a:lstStyle/>
          <a:p>
            <a:pPr algn="l"/>
            <a:r>
              <a:rPr sz="850" b="0" i="0" dirty="0" err="1">
                <a:solidFill>
                  <a:srgbClr val="5D6A79"/>
                </a:solidFill>
                <a:latin typeface="Aptos"/>
              </a:rPr>
              <a:t>VoiceNote</a:t>
            </a:r>
            <a:r>
              <a:rPr sz="850" b="0" i="0" dirty="0">
                <a:solidFill>
                  <a:srgbClr val="5D6A79"/>
                </a:solidFill>
                <a:latin typeface="Aptos"/>
              </a:rPr>
              <a:t>  •  Open Source Project Lab  •  B.E. IT  •  Semester VII</a:t>
            </a:r>
          </a:p>
        </p:txBody>
      </p:sp>
      <p:sp>
        <p:nvSpPr>
          <p:cNvPr id="45" name="TextBox 44"/>
          <p:cNvSpPr txBox="1"/>
          <p:nvPr/>
        </p:nvSpPr>
        <p:spPr>
          <a:xfrm>
            <a:off x="10881360" y="6519672"/>
            <a:ext cx="731520" cy="201168"/>
          </a:xfrm>
          <a:prstGeom prst="rect">
            <a:avLst/>
          </a:prstGeom>
          <a:noFill/>
        </p:spPr>
        <p:txBody>
          <a:bodyPr wrap="none" lIns="27432" tIns="27432" rIns="27432" bIns="27432" anchor="t">
            <a:spAutoFit/>
          </a:bodyPr>
          <a:lstStyle/>
          <a:p>
            <a:r>
              <a:t>03 / 17</a:t>
            </a:r>
          </a:p>
        </p:txBody>
      </p:sp>
      <p:sp>
        <p:nvSpPr>
          <p:cNvPr id="47" name="TextBox 46">
            <a:extLst>
              <a:ext uri="{FF2B5EF4-FFF2-40B4-BE49-F238E27FC236}">
                <a16:creationId xmlns:a16="http://schemas.microsoft.com/office/drawing/2014/main" id="{4AAF2CD0-6F1C-70EC-DB26-26DC99A4F2CF}"/>
              </a:ext>
            </a:extLst>
          </p:cNvPr>
          <p:cNvSpPr txBox="1"/>
          <p:nvPr/>
        </p:nvSpPr>
        <p:spPr>
          <a:xfrm>
            <a:off x="566928" y="1402121"/>
            <a:ext cx="10314432" cy="2477601"/>
          </a:xfrm>
          <a:prstGeom prst="rect">
            <a:avLst/>
          </a:prstGeom>
          <a:noFill/>
        </p:spPr>
        <p:txBody>
          <a:bodyPr wrap="square">
            <a:spAutoFit/>
          </a:bodyPr>
          <a:lstStyle/>
          <a:p>
            <a:pPr>
              <a:spcBef>
                <a:spcPts val="600"/>
              </a:spcBef>
              <a:defRPr sz="1100">
                <a:solidFill>
                  <a:srgbClr val="1E1E24"/>
                </a:solidFill>
                <a:latin typeface="Segoe UI"/>
              </a:defRPr>
            </a:pPr>
            <a:r>
              <a:rPr sz="2000" dirty="0">
                <a:latin typeface="+mj-lt"/>
              </a:rPr>
              <a:t>• </a:t>
            </a:r>
            <a:r>
              <a:rPr lang="en-US" sz="2000" dirty="0">
                <a:latin typeface="+mj-lt"/>
              </a:rPr>
              <a:t>Understand the Content - AI identifies important information from the transcript. </a:t>
            </a:r>
          </a:p>
          <a:p>
            <a:pPr>
              <a:spcBef>
                <a:spcPts val="600"/>
              </a:spcBef>
              <a:defRPr sz="1100">
                <a:solidFill>
                  <a:srgbClr val="1E1E24"/>
                </a:solidFill>
                <a:latin typeface="Segoe UI"/>
              </a:defRPr>
            </a:pPr>
            <a:r>
              <a:rPr sz="2000" dirty="0">
                <a:latin typeface="+mj-lt"/>
              </a:rPr>
              <a:t>• Indic Multilingual Intelligence: Specialized Devanagari prompt chain restores Marathi and Hindi grammar nuances and formats Indian currency (₹).</a:t>
            </a:r>
          </a:p>
          <a:p>
            <a:pPr>
              <a:spcBef>
                <a:spcPts val="600"/>
              </a:spcBef>
              <a:defRPr sz="1100">
                <a:solidFill>
                  <a:srgbClr val="1E1E24"/>
                </a:solidFill>
                <a:latin typeface="Segoe UI"/>
              </a:defRPr>
            </a:pPr>
            <a:r>
              <a:rPr sz="2000" dirty="0">
                <a:latin typeface="+mj-lt"/>
              </a:rPr>
              <a:t>• Actionable Productivity Extraction: Automatically structures discussions into executive summaries and interactive task boards with assignees and due dates.</a:t>
            </a:r>
          </a:p>
          <a:p>
            <a:pPr>
              <a:spcBef>
                <a:spcPts val="600"/>
              </a:spcBef>
              <a:defRPr sz="1100">
                <a:solidFill>
                  <a:srgbClr val="1E1E24"/>
                </a:solidFill>
                <a:latin typeface="Segoe UI"/>
              </a:defRPr>
            </a:pPr>
            <a:r>
              <a:rPr sz="2000" dirty="0">
                <a:latin typeface="+mj-lt"/>
              </a:rPr>
              <a:t>• Concept-Based Semantic Retrieval: Sub-second vector queries match intent and meaning across all notes without requiring exact keywords or timestamps.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53972" y="19588"/>
            <a:ext cx="5253769" cy="424732"/>
          </a:xfrm>
          <a:prstGeom prst="rect">
            <a:avLst/>
          </a:prstGeom>
          <a:noFill/>
        </p:spPr>
        <p:txBody>
          <a:bodyPr wrap="square" lIns="27432" tIns="27432" rIns="27432" bIns="27432">
            <a:spAutoFit/>
          </a:bodyPr>
          <a:lstStyle/>
          <a:p>
            <a:pPr>
              <a:defRPr sz="2400">
                <a:latin typeface="Segoe UI"/>
              </a:defRPr>
            </a:pPr>
            <a:r>
              <a:rPr dirty="0"/>
              <a:t>Layered Desktop System Architecture</a:t>
            </a:r>
          </a:p>
        </p:txBody>
      </p:sp>
      <p:sp>
        <p:nvSpPr>
          <p:cNvPr id="4" name="Rectangle 3"/>
          <p:cNvSpPr/>
          <p:nvPr/>
        </p:nvSpPr>
        <p:spPr>
          <a:xfrm>
            <a:off x="222799" y="485004"/>
            <a:ext cx="960120" cy="50292"/>
          </a:xfrm>
          <a:prstGeom prst="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18520" y="411480"/>
            <a:ext cx="594360" cy="320040"/>
          </a:xfrm>
          <a:prstGeom prst="rect">
            <a:avLst/>
          </a:prstGeom>
          <a:noFill/>
        </p:spPr>
        <p:txBody>
          <a:bodyPr wrap="none" lIns="27432" tIns="27432" rIns="27432" bIns="27432">
            <a:spAutoFit/>
          </a:bodyPr>
          <a:lstStyle/>
          <a:p>
            <a:pPr>
              <a:defRPr sz="2400">
                <a:latin typeface="Segoe UI"/>
              </a:defRPr>
            </a:pPr>
            <a:r>
              <a:t>05</a:t>
            </a:r>
          </a:p>
        </p:txBody>
      </p:sp>
      <p:sp>
        <p:nvSpPr>
          <p:cNvPr id="78" name="TextBox 77"/>
          <p:cNvSpPr txBox="1"/>
          <p:nvPr/>
        </p:nvSpPr>
        <p:spPr>
          <a:xfrm>
            <a:off x="566928" y="6519672"/>
            <a:ext cx="8138160" cy="201168"/>
          </a:xfrm>
          <a:prstGeom prst="rect">
            <a:avLst/>
          </a:prstGeom>
          <a:noFill/>
        </p:spPr>
        <p:txBody>
          <a:bodyPr wrap="none" lIns="27432" tIns="27432" rIns="27432" bIns="27432">
            <a:spAutoFit/>
          </a:bodyPr>
          <a:lstStyle/>
          <a:p>
            <a:pPr algn="l"/>
            <a:r>
              <a:rPr sz="850" b="0">
                <a:solidFill>
                  <a:srgbClr val="5D6A79"/>
                </a:solidFill>
                <a:latin typeface="Aptos"/>
              </a:rPr>
              <a:t>VoiceNote  •  Open Source Project Lab  •  B.E. IT  •  Semester VII</a:t>
            </a:r>
          </a:p>
        </p:txBody>
      </p:sp>
      <p:sp>
        <p:nvSpPr>
          <p:cNvPr id="79" name="TextBox 78"/>
          <p:cNvSpPr txBox="1"/>
          <p:nvPr/>
        </p:nvSpPr>
        <p:spPr>
          <a:xfrm>
            <a:off x="10881360" y="6519672"/>
            <a:ext cx="731520" cy="201168"/>
          </a:xfrm>
          <a:prstGeom prst="rect">
            <a:avLst/>
          </a:prstGeom>
          <a:noFill/>
        </p:spPr>
        <p:txBody>
          <a:bodyPr wrap="none" lIns="27432" tIns="27432" rIns="27432" bIns="27432">
            <a:spAutoFit/>
          </a:bodyPr>
          <a:lstStyle/>
          <a:p>
            <a:pPr>
              <a:defRPr sz="800">
                <a:latin typeface="Segoe UI"/>
              </a:defRPr>
            </a:pPr>
            <a:r>
              <a:t>05 / 17</a:t>
            </a:r>
          </a:p>
        </p:txBody>
      </p:sp>
      <p:pic>
        <p:nvPicPr>
          <p:cNvPr id="24" name="Picture 23">
            <a:extLst>
              <a:ext uri="{FF2B5EF4-FFF2-40B4-BE49-F238E27FC236}">
                <a16:creationId xmlns:a16="http://schemas.microsoft.com/office/drawing/2014/main" id="{E4E8B365-0193-180F-5A65-02C2C868F39E}"/>
              </a:ext>
            </a:extLst>
          </p:cNvPr>
          <p:cNvPicPr>
            <a:picLocks noChangeAspect="1"/>
          </p:cNvPicPr>
          <p:nvPr/>
        </p:nvPicPr>
        <p:blipFill>
          <a:blip r:embed="rId2"/>
          <a:stretch>
            <a:fillRect/>
          </a:stretch>
        </p:blipFill>
        <p:spPr>
          <a:xfrm>
            <a:off x="153972" y="614062"/>
            <a:ext cx="10807658" cy="60061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9875520" cy="502920"/>
          </a:xfrm>
          <a:prstGeom prst="rect">
            <a:avLst/>
          </a:prstGeom>
          <a:noFill/>
        </p:spPr>
        <p:txBody>
          <a:bodyPr wrap="none" lIns="27432" tIns="27432" rIns="27432" bIns="27432" anchor="t">
            <a:spAutoFit/>
          </a:bodyPr>
          <a:lstStyle/>
          <a:p>
            <a:pPr algn="l"/>
            <a:r>
              <a:rPr sz="2800" b="1" i="0" dirty="0">
                <a:solidFill>
                  <a:srgbClr val="11223A"/>
                </a:solidFill>
                <a:latin typeface="Aptos"/>
              </a:rPr>
              <a:t>Core Features</a:t>
            </a:r>
          </a:p>
        </p:txBody>
      </p:sp>
      <p:sp>
        <p:nvSpPr>
          <p:cNvPr id="4" name="Rectangle 3"/>
          <p:cNvSpPr/>
          <p:nvPr/>
        </p:nvSpPr>
        <p:spPr>
          <a:xfrm>
            <a:off x="566928" y="1261872"/>
            <a:ext cx="960120" cy="50292"/>
          </a:xfrm>
          <a:prstGeom prst="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18520" y="411480"/>
            <a:ext cx="594360" cy="320040"/>
          </a:xfrm>
          <a:prstGeom prst="rect">
            <a:avLst/>
          </a:prstGeom>
          <a:noFill/>
        </p:spPr>
        <p:txBody>
          <a:bodyPr wrap="none" lIns="27432" tIns="27432" rIns="27432" bIns="27432" anchor="t">
            <a:spAutoFit/>
          </a:bodyPr>
          <a:lstStyle/>
          <a:p>
            <a:pPr algn="r"/>
            <a:r>
              <a:rPr sz="1200" b="1" i="0">
                <a:solidFill>
                  <a:srgbClr val="5D6A79"/>
                </a:solidFill>
                <a:latin typeface="Aptos"/>
              </a:rPr>
              <a:t>04</a:t>
            </a:r>
          </a:p>
        </p:txBody>
      </p:sp>
      <p:sp>
        <p:nvSpPr>
          <p:cNvPr id="6" name="Rounded Rectangle 5"/>
          <p:cNvSpPr/>
          <p:nvPr/>
        </p:nvSpPr>
        <p:spPr>
          <a:xfrm>
            <a:off x="404935" y="1572768"/>
            <a:ext cx="3753932" cy="4434840"/>
          </a:xfrm>
          <a:prstGeom prst="roundRect">
            <a:avLst/>
          </a:prstGeom>
          <a:solidFill>
            <a:srgbClr val="E7F1FD"/>
          </a:solidFill>
          <a:ln>
            <a:solidFill>
              <a:srgbClr val="DA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Rounded Rectangle 6"/>
          <p:cNvSpPr/>
          <p:nvPr/>
        </p:nvSpPr>
        <p:spPr>
          <a:xfrm>
            <a:off x="777240" y="1783080"/>
            <a:ext cx="3127248" cy="292608"/>
          </a:xfrm>
          <a:prstGeom prst="roundRect">
            <a:avLst/>
          </a:prstGeom>
          <a:solidFill>
            <a:srgbClr val="246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312" y="1790132"/>
            <a:ext cx="3173241" cy="270843"/>
          </a:xfrm>
          <a:prstGeom prst="rect">
            <a:avLst/>
          </a:prstGeom>
          <a:noFill/>
        </p:spPr>
        <p:txBody>
          <a:bodyPr wrap="none" lIns="27432" tIns="27432" rIns="27432" bIns="27432" anchor="t">
            <a:spAutoFit/>
          </a:bodyPr>
          <a:lstStyle/>
          <a:p>
            <a:pPr algn="ctr">
              <a:defRPr sz="1100">
                <a:latin typeface="Segoe UI"/>
              </a:defRPr>
            </a:pPr>
            <a:r>
              <a:rPr sz="1400" b="1" dirty="0">
                <a:solidFill>
                  <a:schemeClr val="bg1"/>
                </a:solidFill>
              </a:rPr>
              <a:t>CAPTURE &amp; HARDWARE TELEMETRY</a:t>
            </a:r>
          </a:p>
        </p:txBody>
      </p:sp>
      <p:sp>
        <p:nvSpPr>
          <p:cNvPr id="9" name="TextBox 8"/>
          <p:cNvSpPr txBox="1"/>
          <p:nvPr/>
        </p:nvSpPr>
        <p:spPr>
          <a:xfrm>
            <a:off x="822960" y="2331720"/>
            <a:ext cx="247760" cy="270843"/>
          </a:xfrm>
          <a:prstGeom prst="rect">
            <a:avLst/>
          </a:prstGeom>
          <a:noFill/>
        </p:spPr>
        <p:txBody>
          <a:bodyPr wrap="none" lIns="27432" tIns="27432" rIns="27432" bIns="27432" anchor="t">
            <a:spAutoFit/>
          </a:bodyPr>
          <a:lstStyle/>
          <a:p>
            <a:pPr algn="l"/>
            <a:r>
              <a:rPr sz="1400" b="1" i="0" dirty="0">
                <a:solidFill>
                  <a:srgbClr val="2468BE"/>
                </a:solidFill>
                <a:latin typeface="Aptos"/>
              </a:rPr>
              <a:t>01</a:t>
            </a:r>
          </a:p>
        </p:txBody>
      </p:sp>
      <p:sp>
        <p:nvSpPr>
          <p:cNvPr id="10" name="TextBox 9"/>
          <p:cNvSpPr txBox="1"/>
          <p:nvPr/>
        </p:nvSpPr>
        <p:spPr>
          <a:xfrm>
            <a:off x="1091348" y="2347555"/>
            <a:ext cx="2036492" cy="270843"/>
          </a:xfrm>
          <a:prstGeom prst="rect">
            <a:avLst/>
          </a:prstGeom>
          <a:noFill/>
        </p:spPr>
        <p:txBody>
          <a:bodyPr wrap="square" lIns="27432" tIns="27432" rIns="27432" bIns="27432" anchor="t">
            <a:spAutoFit/>
          </a:bodyPr>
          <a:lstStyle/>
          <a:p>
            <a:pPr>
              <a:defRPr sz="1100">
                <a:latin typeface="Segoe UI"/>
              </a:defRPr>
            </a:pPr>
            <a:r>
              <a:rPr sz="1400" b="1"/>
              <a:t>Dual-Source Capture</a:t>
            </a:r>
          </a:p>
        </p:txBody>
      </p:sp>
      <p:sp>
        <p:nvSpPr>
          <p:cNvPr id="11" name="TextBox 10"/>
          <p:cNvSpPr txBox="1"/>
          <p:nvPr/>
        </p:nvSpPr>
        <p:spPr>
          <a:xfrm>
            <a:off x="1197864" y="2633472"/>
            <a:ext cx="2980846" cy="424732"/>
          </a:xfrm>
          <a:prstGeom prst="rect">
            <a:avLst/>
          </a:prstGeom>
          <a:noFill/>
        </p:spPr>
        <p:txBody>
          <a:bodyPr wrap="square" lIns="27432" tIns="27432" rIns="27432" bIns="27432" anchor="t">
            <a:spAutoFit/>
          </a:bodyPr>
          <a:lstStyle/>
          <a:p>
            <a:pPr>
              <a:defRPr sz="1100">
                <a:latin typeface="Segoe UI"/>
              </a:defRPr>
            </a:pPr>
            <a:r>
              <a:rPr sz="1200" dirty="0"/>
              <a:t>Microphone + WASAPI Loopback (Teams/Zoom)</a:t>
            </a:r>
          </a:p>
        </p:txBody>
      </p:sp>
      <p:sp>
        <p:nvSpPr>
          <p:cNvPr id="12" name="TextBox 11"/>
          <p:cNvSpPr txBox="1"/>
          <p:nvPr/>
        </p:nvSpPr>
        <p:spPr>
          <a:xfrm>
            <a:off x="822960" y="3191256"/>
            <a:ext cx="247760" cy="270843"/>
          </a:xfrm>
          <a:prstGeom prst="rect">
            <a:avLst/>
          </a:prstGeom>
          <a:noFill/>
        </p:spPr>
        <p:txBody>
          <a:bodyPr wrap="none" lIns="27432" tIns="27432" rIns="27432" bIns="27432" anchor="t">
            <a:spAutoFit/>
          </a:bodyPr>
          <a:lstStyle/>
          <a:p>
            <a:pPr algn="l"/>
            <a:r>
              <a:rPr sz="1400" b="1" i="0" dirty="0">
                <a:solidFill>
                  <a:srgbClr val="2468BE"/>
                </a:solidFill>
                <a:latin typeface="Aptos"/>
              </a:rPr>
              <a:t>02</a:t>
            </a:r>
          </a:p>
        </p:txBody>
      </p:sp>
      <p:sp>
        <p:nvSpPr>
          <p:cNvPr id="13" name="TextBox 12"/>
          <p:cNvSpPr txBox="1"/>
          <p:nvPr/>
        </p:nvSpPr>
        <p:spPr>
          <a:xfrm>
            <a:off x="1091347" y="3207092"/>
            <a:ext cx="2459711" cy="270843"/>
          </a:xfrm>
          <a:prstGeom prst="rect">
            <a:avLst/>
          </a:prstGeom>
          <a:noFill/>
        </p:spPr>
        <p:txBody>
          <a:bodyPr wrap="square" lIns="27432" tIns="27432" rIns="27432" bIns="27432" anchor="t">
            <a:spAutoFit/>
          </a:bodyPr>
          <a:lstStyle/>
          <a:p>
            <a:pPr>
              <a:defRPr sz="900">
                <a:latin typeface="Segoe UI"/>
              </a:defRPr>
            </a:pPr>
            <a:r>
              <a:rPr sz="1400" b="1" dirty="0"/>
              <a:t>Real-Time BFS Calibration</a:t>
            </a:r>
          </a:p>
        </p:txBody>
      </p:sp>
      <p:sp>
        <p:nvSpPr>
          <p:cNvPr id="14" name="TextBox 13"/>
          <p:cNvSpPr txBox="1"/>
          <p:nvPr/>
        </p:nvSpPr>
        <p:spPr>
          <a:xfrm>
            <a:off x="1197864" y="3493008"/>
            <a:ext cx="2695161" cy="240066"/>
          </a:xfrm>
          <a:prstGeom prst="rect">
            <a:avLst/>
          </a:prstGeom>
          <a:noFill/>
        </p:spPr>
        <p:txBody>
          <a:bodyPr wrap="none" lIns="27432" tIns="27432" rIns="27432" bIns="27432" anchor="t">
            <a:spAutoFit/>
          </a:bodyPr>
          <a:lstStyle/>
          <a:p>
            <a:pPr>
              <a:defRPr sz="900">
                <a:latin typeface="Segoe UI"/>
              </a:defRPr>
            </a:pPr>
            <a:r>
              <a:rPr sz="1200"/>
              <a:t>Dynamic VU meter: -60 dBFS to 0 dBFS</a:t>
            </a:r>
          </a:p>
        </p:txBody>
      </p:sp>
      <p:sp>
        <p:nvSpPr>
          <p:cNvPr id="15" name="TextBox 14"/>
          <p:cNvSpPr txBox="1"/>
          <p:nvPr/>
        </p:nvSpPr>
        <p:spPr>
          <a:xfrm>
            <a:off x="822960" y="4050791"/>
            <a:ext cx="247760" cy="270843"/>
          </a:xfrm>
          <a:prstGeom prst="rect">
            <a:avLst/>
          </a:prstGeom>
          <a:noFill/>
        </p:spPr>
        <p:txBody>
          <a:bodyPr wrap="none" lIns="27432" tIns="27432" rIns="27432" bIns="27432" anchor="t">
            <a:spAutoFit/>
          </a:bodyPr>
          <a:lstStyle/>
          <a:p>
            <a:pPr algn="l"/>
            <a:r>
              <a:rPr sz="1400" b="1" i="0" dirty="0">
                <a:solidFill>
                  <a:srgbClr val="2468BE"/>
                </a:solidFill>
                <a:latin typeface="Aptos"/>
              </a:rPr>
              <a:t>03</a:t>
            </a:r>
          </a:p>
        </p:txBody>
      </p:sp>
      <p:sp>
        <p:nvSpPr>
          <p:cNvPr id="19" name="TextBox 18"/>
          <p:cNvSpPr txBox="1"/>
          <p:nvPr/>
        </p:nvSpPr>
        <p:spPr>
          <a:xfrm>
            <a:off x="1091348" y="4035358"/>
            <a:ext cx="2459711" cy="270843"/>
          </a:xfrm>
          <a:prstGeom prst="rect">
            <a:avLst/>
          </a:prstGeom>
          <a:noFill/>
        </p:spPr>
        <p:txBody>
          <a:bodyPr wrap="square" lIns="27432" tIns="27432" rIns="27432" bIns="27432" anchor="t">
            <a:spAutoFit/>
          </a:bodyPr>
          <a:lstStyle/>
          <a:p>
            <a:pPr>
              <a:defRPr sz="900">
                <a:latin typeface="Segoe UI"/>
              </a:defRPr>
            </a:pPr>
            <a:r>
              <a:rPr sz="1400" b="1"/>
              <a:t>Live Waveform Visualizer</a:t>
            </a:r>
          </a:p>
        </p:txBody>
      </p:sp>
      <p:sp>
        <p:nvSpPr>
          <p:cNvPr id="20" name="TextBox 19"/>
          <p:cNvSpPr txBox="1"/>
          <p:nvPr/>
        </p:nvSpPr>
        <p:spPr>
          <a:xfrm>
            <a:off x="1197864" y="4352544"/>
            <a:ext cx="2750689" cy="240066"/>
          </a:xfrm>
          <a:prstGeom prst="rect">
            <a:avLst/>
          </a:prstGeom>
          <a:noFill/>
        </p:spPr>
        <p:txBody>
          <a:bodyPr wrap="none" lIns="27432" tIns="27432" rIns="27432" bIns="27432" anchor="t">
            <a:spAutoFit/>
          </a:bodyPr>
          <a:lstStyle/>
          <a:p>
            <a:pPr>
              <a:defRPr sz="900">
                <a:latin typeface="Segoe UI"/>
              </a:defRPr>
            </a:pPr>
            <a:r>
              <a:rPr sz="1200" dirty="0"/>
              <a:t>60 FPS animated </a:t>
            </a:r>
            <a:r>
              <a:rPr sz="1200" dirty="0" err="1"/>
              <a:t>QPainter</a:t>
            </a:r>
            <a:r>
              <a:rPr sz="1200" dirty="0"/>
              <a:t> audio display</a:t>
            </a:r>
          </a:p>
        </p:txBody>
      </p:sp>
      <p:sp>
        <p:nvSpPr>
          <p:cNvPr id="21" name="Rounded Rectangle 20"/>
          <p:cNvSpPr/>
          <p:nvPr/>
        </p:nvSpPr>
        <p:spPr>
          <a:xfrm>
            <a:off x="4263703" y="1572768"/>
            <a:ext cx="3753932" cy="4434840"/>
          </a:xfrm>
          <a:prstGeom prst="roundRect">
            <a:avLst/>
          </a:prstGeom>
          <a:solidFill>
            <a:srgbClr val="E5F7F3"/>
          </a:solidFill>
          <a:ln>
            <a:solidFill>
              <a:srgbClr val="DA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4636008" y="1783080"/>
            <a:ext cx="3127248" cy="292608"/>
          </a:xfrm>
          <a:prstGeom prst="roundRect">
            <a:avLst/>
          </a:prstGeom>
          <a:solidFill>
            <a:srgbClr val="198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78217" y="1790132"/>
            <a:ext cx="2405402" cy="270843"/>
          </a:xfrm>
          <a:prstGeom prst="rect">
            <a:avLst/>
          </a:prstGeom>
          <a:noFill/>
        </p:spPr>
        <p:txBody>
          <a:bodyPr wrap="none" lIns="27432" tIns="27432" rIns="27432" bIns="27432" anchor="t">
            <a:spAutoFit/>
          </a:bodyPr>
          <a:lstStyle/>
          <a:p>
            <a:pPr algn="ctr">
              <a:defRPr sz="900">
                <a:latin typeface="Segoe UI"/>
              </a:defRPr>
            </a:pPr>
            <a:r>
              <a:rPr sz="1400" b="1" dirty="0">
                <a:solidFill>
                  <a:schemeClr val="bg1"/>
                </a:solidFill>
              </a:rPr>
              <a:t>SPEECH &amp; AI INTELLIGENCE</a:t>
            </a:r>
          </a:p>
        </p:txBody>
      </p:sp>
      <p:sp>
        <p:nvSpPr>
          <p:cNvPr id="24" name="TextBox 23"/>
          <p:cNvSpPr txBox="1"/>
          <p:nvPr/>
        </p:nvSpPr>
        <p:spPr>
          <a:xfrm>
            <a:off x="4681728" y="2331720"/>
            <a:ext cx="247760" cy="270843"/>
          </a:xfrm>
          <a:prstGeom prst="rect">
            <a:avLst/>
          </a:prstGeom>
          <a:noFill/>
        </p:spPr>
        <p:txBody>
          <a:bodyPr wrap="none" lIns="27432" tIns="27432" rIns="27432" bIns="27432" anchor="t">
            <a:spAutoFit/>
          </a:bodyPr>
          <a:lstStyle/>
          <a:p>
            <a:pPr algn="l"/>
            <a:r>
              <a:rPr sz="1400" b="1" i="0" dirty="0">
                <a:solidFill>
                  <a:srgbClr val="19897D"/>
                </a:solidFill>
                <a:latin typeface="Aptos"/>
              </a:rPr>
              <a:t>01</a:t>
            </a:r>
          </a:p>
        </p:txBody>
      </p:sp>
      <p:sp>
        <p:nvSpPr>
          <p:cNvPr id="25" name="TextBox 24"/>
          <p:cNvSpPr txBox="1"/>
          <p:nvPr/>
        </p:nvSpPr>
        <p:spPr>
          <a:xfrm>
            <a:off x="4950116" y="2347555"/>
            <a:ext cx="2221759" cy="270843"/>
          </a:xfrm>
          <a:prstGeom prst="rect">
            <a:avLst/>
          </a:prstGeom>
          <a:noFill/>
        </p:spPr>
        <p:txBody>
          <a:bodyPr wrap="square" lIns="27432" tIns="27432" rIns="27432" bIns="27432" anchor="t">
            <a:spAutoFit/>
          </a:bodyPr>
          <a:lstStyle/>
          <a:p>
            <a:pPr>
              <a:defRPr sz="900">
                <a:latin typeface="Segoe UI"/>
              </a:defRPr>
            </a:pPr>
            <a:r>
              <a:rPr sz="1400" b="1"/>
              <a:t>Faster-Whisper + Groq</a:t>
            </a:r>
          </a:p>
        </p:txBody>
      </p:sp>
      <p:sp>
        <p:nvSpPr>
          <p:cNvPr id="26" name="TextBox 25"/>
          <p:cNvSpPr txBox="1"/>
          <p:nvPr/>
        </p:nvSpPr>
        <p:spPr>
          <a:xfrm>
            <a:off x="5056632" y="2633472"/>
            <a:ext cx="2884508" cy="240066"/>
          </a:xfrm>
          <a:prstGeom prst="rect">
            <a:avLst/>
          </a:prstGeom>
          <a:noFill/>
        </p:spPr>
        <p:txBody>
          <a:bodyPr wrap="none" lIns="27432" tIns="27432" rIns="27432" bIns="27432" anchor="t">
            <a:spAutoFit/>
          </a:bodyPr>
          <a:lstStyle/>
          <a:p>
            <a:pPr>
              <a:defRPr sz="900">
                <a:latin typeface="Segoe UI"/>
              </a:defRPr>
            </a:pPr>
            <a:r>
              <a:rPr sz="1200"/>
              <a:t>GPU/CPU local CTranslate2 + cloud speed</a:t>
            </a:r>
          </a:p>
        </p:txBody>
      </p:sp>
      <p:sp>
        <p:nvSpPr>
          <p:cNvPr id="27" name="TextBox 26"/>
          <p:cNvSpPr txBox="1"/>
          <p:nvPr/>
        </p:nvSpPr>
        <p:spPr>
          <a:xfrm>
            <a:off x="4681728" y="3191256"/>
            <a:ext cx="247760" cy="270843"/>
          </a:xfrm>
          <a:prstGeom prst="rect">
            <a:avLst/>
          </a:prstGeom>
          <a:noFill/>
        </p:spPr>
        <p:txBody>
          <a:bodyPr wrap="none" lIns="27432" tIns="27432" rIns="27432" bIns="27432" anchor="t">
            <a:spAutoFit/>
          </a:bodyPr>
          <a:lstStyle/>
          <a:p>
            <a:pPr algn="l"/>
            <a:r>
              <a:rPr sz="1400" b="1" i="0" dirty="0">
                <a:solidFill>
                  <a:srgbClr val="19897D"/>
                </a:solidFill>
                <a:latin typeface="Aptos"/>
              </a:rPr>
              <a:t>02</a:t>
            </a:r>
          </a:p>
        </p:txBody>
      </p:sp>
      <p:sp>
        <p:nvSpPr>
          <p:cNvPr id="28" name="TextBox 27"/>
          <p:cNvSpPr txBox="1"/>
          <p:nvPr/>
        </p:nvSpPr>
        <p:spPr>
          <a:xfrm>
            <a:off x="4950116" y="3207091"/>
            <a:ext cx="1762813" cy="270843"/>
          </a:xfrm>
          <a:prstGeom prst="rect">
            <a:avLst/>
          </a:prstGeom>
          <a:noFill/>
        </p:spPr>
        <p:txBody>
          <a:bodyPr wrap="square" lIns="27432" tIns="27432" rIns="27432" bIns="27432" anchor="t">
            <a:spAutoFit/>
          </a:bodyPr>
          <a:lstStyle/>
          <a:p>
            <a:pPr>
              <a:defRPr sz="900">
                <a:latin typeface="Segoe UI"/>
              </a:defRPr>
            </a:pPr>
            <a:r>
              <a:rPr sz="1400" b="1"/>
              <a:t>Devanagari Polish</a:t>
            </a:r>
          </a:p>
        </p:txBody>
      </p:sp>
      <p:sp>
        <p:nvSpPr>
          <p:cNvPr id="29" name="TextBox 28"/>
          <p:cNvSpPr txBox="1"/>
          <p:nvPr/>
        </p:nvSpPr>
        <p:spPr>
          <a:xfrm>
            <a:off x="5056632" y="3493008"/>
            <a:ext cx="3065839" cy="240066"/>
          </a:xfrm>
          <a:prstGeom prst="rect">
            <a:avLst/>
          </a:prstGeom>
          <a:noFill/>
        </p:spPr>
        <p:txBody>
          <a:bodyPr wrap="none" lIns="27432" tIns="27432" rIns="27432" bIns="27432" anchor="t">
            <a:spAutoFit/>
          </a:bodyPr>
          <a:lstStyle/>
          <a:p>
            <a:pPr>
              <a:defRPr sz="900">
                <a:latin typeface="Segoe UI"/>
              </a:defRPr>
            </a:pPr>
            <a:r>
              <a:rPr sz="1200"/>
              <a:t>Regional verb forms &amp; currency standardizer</a:t>
            </a:r>
          </a:p>
        </p:txBody>
      </p:sp>
      <p:sp>
        <p:nvSpPr>
          <p:cNvPr id="30" name="TextBox 29"/>
          <p:cNvSpPr txBox="1"/>
          <p:nvPr/>
        </p:nvSpPr>
        <p:spPr>
          <a:xfrm>
            <a:off x="4681728" y="4050791"/>
            <a:ext cx="247760" cy="270843"/>
          </a:xfrm>
          <a:prstGeom prst="rect">
            <a:avLst/>
          </a:prstGeom>
          <a:noFill/>
        </p:spPr>
        <p:txBody>
          <a:bodyPr wrap="none" lIns="27432" tIns="27432" rIns="27432" bIns="27432" anchor="t">
            <a:spAutoFit/>
          </a:bodyPr>
          <a:lstStyle/>
          <a:p>
            <a:pPr algn="l"/>
            <a:r>
              <a:rPr sz="1400" b="1" i="0" dirty="0">
                <a:solidFill>
                  <a:srgbClr val="19897D"/>
                </a:solidFill>
                <a:latin typeface="Aptos"/>
              </a:rPr>
              <a:t>03</a:t>
            </a:r>
          </a:p>
        </p:txBody>
      </p:sp>
      <p:sp>
        <p:nvSpPr>
          <p:cNvPr id="31" name="TextBox 30"/>
          <p:cNvSpPr txBox="1"/>
          <p:nvPr/>
        </p:nvSpPr>
        <p:spPr>
          <a:xfrm>
            <a:off x="4950116" y="4066626"/>
            <a:ext cx="1920510" cy="270843"/>
          </a:xfrm>
          <a:prstGeom prst="rect">
            <a:avLst/>
          </a:prstGeom>
          <a:noFill/>
        </p:spPr>
        <p:txBody>
          <a:bodyPr wrap="square" lIns="27432" tIns="27432" rIns="27432" bIns="27432" anchor="t">
            <a:spAutoFit/>
          </a:bodyPr>
          <a:lstStyle/>
          <a:p>
            <a:pPr>
              <a:defRPr sz="900">
                <a:latin typeface="Segoe UI"/>
              </a:defRPr>
            </a:pPr>
            <a:r>
              <a:rPr sz="1400" b="1"/>
              <a:t>Speaker Diarization</a:t>
            </a:r>
          </a:p>
        </p:txBody>
      </p:sp>
      <p:sp>
        <p:nvSpPr>
          <p:cNvPr id="32" name="TextBox 31"/>
          <p:cNvSpPr txBox="1"/>
          <p:nvPr/>
        </p:nvSpPr>
        <p:spPr>
          <a:xfrm>
            <a:off x="5056632" y="4352544"/>
            <a:ext cx="3395673" cy="240066"/>
          </a:xfrm>
          <a:prstGeom prst="rect">
            <a:avLst/>
          </a:prstGeom>
          <a:noFill/>
        </p:spPr>
        <p:txBody>
          <a:bodyPr wrap="none" lIns="27432" tIns="27432" rIns="27432" bIns="27432" anchor="t">
            <a:spAutoFit/>
          </a:bodyPr>
          <a:lstStyle/>
          <a:p>
            <a:pPr>
              <a:defRPr sz="900">
                <a:latin typeface="Segoe UI"/>
              </a:defRPr>
            </a:pPr>
            <a:r>
              <a:rPr sz="1200"/>
              <a:t>Acoustic turn segmentation into distinct speakers</a:t>
            </a:r>
          </a:p>
        </p:txBody>
      </p:sp>
      <p:sp>
        <p:nvSpPr>
          <p:cNvPr id="33" name="TextBox 32"/>
          <p:cNvSpPr txBox="1"/>
          <p:nvPr/>
        </p:nvSpPr>
        <p:spPr>
          <a:xfrm>
            <a:off x="4681728" y="4910327"/>
            <a:ext cx="247760" cy="270843"/>
          </a:xfrm>
          <a:prstGeom prst="rect">
            <a:avLst/>
          </a:prstGeom>
          <a:noFill/>
        </p:spPr>
        <p:txBody>
          <a:bodyPr wrap="none" lIns="27432" tIns="27432" rIns="27432" bIns="27432" anchor="t">
            <a:spAutoFit/>
          </a:bodyPr>
          <a:lstStyle/>
          <a:p>
            <a:pPr algn="l"/>
            <a:r>
              <a:rPr sz="1400" b="1" i="0" dirty="0">
                <a:solidFill>
                  <a:srgbClr val="19897D"/>
                </a:solidFill>
                <a:latin typeface="Aptos"/>
              </a:rPr>
              <a:t>04</a:t>
            </a:r>
          </a:p>
        </p:txBody>
      </p:sp>
      <p:sp>
        <p:nvSpPr>
          <p:cNvPr id="34" name="TextBox 33"/>
          <p:cNvSpPr txBox="1"/>
          <p:nvPr/>
        </p:nvSpPr>
        <p:spPr>
          <a:xfrm>
            <a:off x="4950116" y="4926162"/>
            <a:ext cx="2447658" cy="270843"/>
          </a:xfrm>
          <a:prstGeom prst="rect">
            <a:avLst/>
          </a:prstGeom>
          <a:noFill/>
        </p:spPr>
        <p:txBody>
          <a:bodyPr wrap="square" lIns="27432" tIns="27432" rIns="27432" bIns="27432" anchor="t">
            <a:spAutoFit/>
          </a:bodyPr>
          <a:lstStyle/>
          <a:p>
            <a:pPr>
              <a:defRPr sz="900">
                <a:latin typeface="Segoe UI"/>
              </a:defRPr>
            </a:pPr>
            <a:r>
              <a:rPr sz="1400" b="1"/>
              <a:t>Gemini 3.8 Flash Analysis</a:t>
            </a:r>
          </a:p>
        </p:txBody>
      </p:sp>
      <p:sp>
        <p:nvSpPr>
          <p:cNvPr id="35" name="TextBox 34"/>
          <p:cNvSpPr txBox="1"/>
          <p:nvPr/>
        </p:nvSpPr>
        <p:spPr>
          <a:xfrm>
            <a:off x="4970839" y="5217153"/>
            <a:ext cx="2660024" cy="424732"/>
          </a:xfrm>
          <a:prstGeom prst="rect">
            <a:avLst/>
          </a:prstGeom>
          <a:noFill/>
        </p:spPr>
        <p:txBody>
          <a:bodyPr wrap="none" lIns="27432" tIns="27432" rIns="27432" bIns="27432" anchor="t">
            <a:spAutoFit/>
          </a:bodyPr>
          <a:lstStyle/>
          <a:p>
            <a:pPr>
              <a:defRPr sz="900">
                <a:latin typeface="Segoe UI"/>
              </a:defRPr>
            </a:pPr>
            <a:r>
              <a:rPr sz="1200" dirty="0"/>
              <a:t>Executive summaries, key takeaways &amp;</a:t>
            </a:r>
            <a:endParaRPr lang="en-US" sz="1200" dirty="0"/>
          </a:p>
          <a:p>
            <a:pPr>
              <a:defRPr sz="900">
                <a:latin typeface="Segoe UI"/>
              </a:defRPr>
            </a:pPr>
            <a:r>
              <a:rPr sz="1200" dirty="0"/>
              <a:t> task boards</a:t>
            </a:r>
          </a:p>
        </p:txBody>
      </p:sp>
      <p:sp>
        <p:nvSpPr>
          <p:cNvPr id="36" name="Rounded Rectangle 35"/>
          <p:cNvSpPr/>
          <p:nvPr/>
        </p:nvSpPr>
        <p:spPr>
          <a:xfrm>
            <a:off x="8122470" y="1572768"/>
            <a:ext cx="3849221" cy="4434840"/>
          </a:xfrm>
          <a:prstGeom prst="roundRect">
            <a:avLst/>
          </a:prstGeom>
          <a:solidFill>
            <a:srgbClr val="F1ECFA"/>
          </a:solidFill>
          <a:ln>
            <a:solidFill>
              <a:srgbClr val="DA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494776" y="1783080"/>
            <a:ext cx="3127248" cy="292608"/>
          </a:xfrm>
          <a:prstGeom prst="roundRect">
            <a:avLst/>
          </a:prstGeom>
          <a:solidFill>
            <a:srgbClr val="775B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584219" y="1790132"/>
            <a:ext cx="2716706" cy="270843"/>
          </a:xfrm>
          <a:prstGeom prst="rect">
            <a:avLst/>
          </a:prstGeom>
          <a:noFill/>
        </p:spPr>
        <p:txBody>
          <a:bodyPr wrap="none" lIns="27432" tIns="27432" rIns="27432" bIns="27432" anchor="t">
            <a:spAutoFit/>
          </a:bodyPr>
          <a:lstStyle/>
          <a:p>
            <a:pPr algn="ctr">
              <a:defRPr sz="900">
                <a:latin typeface="Segoe UI"/>
              </a:defRPr>
            </a:pPr>
            <a:r>
              <a:rPr sz="1400" b="1" dirty="0">
                <a:solidFill>
                  <a:schemeClr val="bg1"/>
                </a:solidFill>
              </a:rPr>
              <a:t>STORAGE, SEARCH &amp; DELIVERY</a:t>
            </a:r>
          </a:p>
        </p:txBody>
      </p:sp>
      <p:sp>
        <p:nvSpPr>
          <p:cNvPr id="39" name="TextBox 38"/>
          <p:cNvSpPr txBox="1"/>
          <p:nvPr/>
        </p:nvSpPr>
        <p:spPr>
          <a:xfrm>
            <a:off x="8540496" y="2331720"/>
            <a:ext cx="247760" cy="270843"/>
          </a:xfrm>
          <a:prstGeom prst="rect">
            <a:avLst/>
          </a:prstGeom>
          <a:noFill/>
        </p:spPr>
        <p:txBody>
          <a:bodyPr wrap="none" lIns="27432" tIns="27432" rIns="27432" bIns="27432" anchor="t">
            <a:spAutoFit/>
          </a:bodyPr>
          <a:lstStyle/>
          <a:p>
            <a:pPr algn="l"/>
            <a:r>
              <a:rPr sz="1400" b="1" i="0" dirty="0">
                <a:solidFill>
                  <a:srgbClr val="775BB3"/>
                </a:solidFill>
                <a:latin typeface="Aptos"/>
              </a:rPr>
              <a:t>01</a:t>
            </a:r>
          </a:p>
        </p:txBody>
      </p:sp>
      <p:sp>
        <p:nvSpPr>
          <p:cNvPr id="40" name="TextBox 39"/>
          <p:cNvSpPr txBox="1"/>
          <p:nvPr/>
        </p:nvSpPr>
        <p:spPr>
          <a:xfrm>
            <a:off x="8808884" y="2347555"/>
            <a:ext cx="1837368" cy="270843"/>
          </a:xfrm>
          <a:prstGeom prst="rect">
            <a:avLst/>
          </a:prstGeom>
          <a:noFill/>
        </p:spPr>
        <p:txBody>
          <a:bodyPr wrap="square" lIns="27432" tIns="27432" rIns="27432" bIns="27432" anchor="t">
            <a:spAutoFit/>
          </a:bodyPr>
          <a:lstStyle/>
          <a:p>
            <a:pPr>
              <a:defRPr sz="900">
                <a:latin typeface="Segoe UI"/>
              </a:defRPr>
            </a:pPr>
            <a:r>
              <a:rPr sz="1400" b="1"/>
              <a:t>Triple-Tier Storage</a:t>
            </a:r>
          </a:p>
        </p:txBody>
      </p:sp>
      <p:sp>
        <p:nvSpPr>
          <p:cNvPr id="41" name="TextBox 40"/>
          <p:cNvSpPr txBox="1"/>
          <p:nvPr/>
        </p:nvSpPr>
        <p:spPr>
          <a:xfrm>
            <a:off x="8851828" y="2633472"/>
            <a:ext cx="3024575" cy="424732"/>
          </a:xfrm>
          <a:prstGeom prst="rect">
            <a:avLst/>
          </a:prstGeom>
          <a:noFill/>
        </p:spPr>
        <p:txBody>
          <a:bodyPr wrap="square" lIns="27432" tIns="27432" rIns="27432" bIns="27432" anchor="t">
            <a:spAutoFit/>
          </a:bodyPr>
          <a:lstStyle/>
          <a:p>
            <a:pPr>
              <a:defRPr sz="900">
                <a:latin typeface="Segoe UI"/>
              </a:defRPr>
            </a:pPr>
            <a:r>
              <a:rPr sz="1200" dirty="0"/>
              <a:t>PostgreSQL relational +</a:t>
            </a:r>
            <a:r>
              <a:rPr sz="1200" dirty="0" err="1"/>
              <a:t>ChromaDB</a:t>
            </a:r>
            <a:r>
              <a:rPr sz="1200" dirty="0"/>
              <a:t> vectors + WAV</a:t>
            </a:r>
          </a:p>
        </p:txBody>
      </p:sp>
      <p:sp>
        <p:nvSpPr>
          <p:cNvPr id="42" name="TextBox 41"/>
          <p:cNvSpPr txBox="1"/>
          <p:nvPr/>
        </p:nvSpPr>
        <p:spPr>
          <a:xfrm>
            <a:off x="8540496" y="3191256"/>
            <a:ext cx="247760" cy="270843"/>
          </a:xfrm>
          <a:prstGeom prst="rect">
            <a:avLst/>
          </a:prstGeom>
          <a:noFill/>
        </p:spPr>
        <p:txBody>
          <a:bodyPr wrap="none" lIns="27432" tIns="27432" rIns="27432" bIns="27432" anchor="t">
            <a:spAutoFit/>
          </a:bodyPr>
          <a:lstStyle/>
          <a:p>
            <a:pPr algn="l"/>
            <a:r>
              <a:rPr sz="1400" b="1" i="0" dirty="0">
                <a:solidFill>
                  <a:srgbClr val="775BB3"/>
                </a:solidFill>
                <a:latin typeface="Aptos"/>
              </a:rPr>
              <a:t>02</a:t>
            </a:r>
          </a:p>
        </p:txBody>
      </p:sp>
      <p:sp>
        <p:nvSpPr>
          <p:cNvPr id="43" name="TextBox 42"/>
          <p:cNvSpPr txBox="1"/>
          <p:nvPr/>
        </p:nvSpPr>
        <p:spPr>
          <a:xfrm>
            <a:off x="8808884" y="3207091"/>
            <a:ext cx="2813140" cy="270843"/>
          </a:xfrm>
          <a:prstGeom prst="rect">
            <a:avLst/>
          </a:prstGeom>
          <a:noFill/>
        </p:spPr>
        <p:txBody>
          <a:bodyPr wrap="square" lIns="27432" tIns="27432" rIns="27432" bIns="27432" anchor="t">
            <a:spAutoFit/>
          </a:bodyPr>
          <a:lstStyle/>
          <a:p>
            <a:pPr>
              <a:defRPr sz="900">
                <a:latin typeface="Segoe UI"/>
              </a:defRPr>
            </a:pPr>
            <a:r>
              <a:rPr sz="1400" b="1"/>
              <a:t>Sub-Second Semantic Search</a:t>
            </a:r>
          </a:p>
        </p:txBody>
      </p:sp>
      <p:sp>
        <p:nvSpPr>
          <p:cNvPr id="44" name="TextBox 43"/>
          <p:cNvSpPr txBox="1"/>
          <p:nvPr/>
        </p:nvSpPr>
        <p:spPr>
          <a:xfrm>
            <a:off x="8851828" y="3493008"/>
            <a:ext cx="3252942" cy="240066"/>
          </a:xfrm>
          <a:prstGeom prst="rect">
            <a:avLst/>
          </a:prstGeom>
          <a:noFill/>
        </p:spPr>
        <p:txBody>
          <a:bodyPr wrap="none" lIns="27432" tIns="27432" rIns="27432" bIns="27432" anchor="t">
            <a:spAutoFit/>
          </a:bodyPr>
          <a:lstStyle/>
          <a:p>
            <a:pPr>
              <a:defRPr sz="900">
                <a:latin typeface="Segoe UI"/>
              </a:defRPr>
            </a:pPr>
            <a:r>
              <a:rPr sz="1200"/>
              <a:t>Cosine distance similarity scoring with % match</a:t>
            </a:r>
          </a:p>
        </p:txBody>
      </p:sp>
      <p:sp>
        <p:nvSpPr>
          <p:cNvPr id="45" name="TextBox 44"/>
          <p:cNvSpPr txBox="1"/>
          <p:nvPr/>
        </p:nvSpPr>
        <p:spPr>
          <a:xfrm>
            <a:off x="8540496" y="4050791"/>
            <a:ext cx="247760" cy="270843"/>
          </a:xfrm>
          <a:prstGeom prst="rect">
            <a:avLst/>
          </a:prstGeom>
          <a:noFill/>
        </p:spPr>
        <p:txBody>
          <a:bodyPr wrap="none" lIns="27432" tIns="27432" rIns="27432" bIns="27432" anchor="t">
            <a:spAutoFit/>
          </a:bodyPr>
          <a:lstStyle/>
          <a:p>
            <a:pPr algn="l"/>
            <a:r>
              <a:rPr sz="1400" b="1" i="0" dirty="0">
                <a:solidFill>
                  <a:srgbClr val="775BB3"/>
                </a:solidFill>
                <a:latin typeface="Aptos"/>
              </a:rPr>
              <a:t>03</a:t>
            </a:r>
          </a:p>
        </p:txBody>
      </p:sp>
      <p:sp>
        <p:nvSpPr>
          <p:cNvPr id="46" name="TextBox 45"/>
          <p:cNvSpPr txBox="1"/>
          <p:nvPr/>
        </p:nvSpPr>
        <p:spPr>
          <a:xfrm>
            <a:off x="8808884" y="4066626"/>
            <a:ext cx="2728338" cy="270843"/>
          </a:xfrm>
          <a:prstGeom prst="rect">
            <a:avLst/>
          </a:prstGeom>
          <a:noFill/>
        </p:spPr>
        <p:txBody>
          <a:bodyPr wrap="square" lIns="27432" tIns="27432" rIns="27432" bIns="27432" anchor="t">
            <a:spAutoFit/>
          </a:bodyPr>
          <a:lstStyle/>
          <a:p>
            <a:pPr>
              <a:defRPr sz="900">
                <a:latin typeface="Segoe UI"/>
              </a:defRPr>
            </a:pPr>
            <a:r>
              <a:rPr sz="1400" b="1"/>
              <a:t>Multi-Format Export Engine</a:t>
            </a:r>
          </a:p>
        </p:txBody>
      </p:sp>
      <p:sp>
        <p:nvSpPr>
          <p:cNvPr id="47" name="TextBox 46"/>
          <p:cNvSpPr txBox="1"/>
          <p:nvPr/>
        </p:nvSpPr>
        <p:spPr>
          <a:xfrm>
            <a:off x="8788256" y="4345033"/>
            <a:ext cx="3183436" cy="240066"/>
          </a:xfrm>
          <a:prstGeom prst="rect">
            <a:avLst/>
          </a:prstGeom>
          <a:noFill/>
        </p:spPr>
        <p:txBody>
          <a:bodyPr wrap="none" lIns="27432" tIns="27432" rIns="27432" bIns="27432" anchor="t">
            <a:spAutoFit/>
          </a:bodyPr>
          <a:lstStyle/>
          <a:p>
            <a:pPr>
              <a:defRPr sz="900">
                <a:latin typeface="Segoe UI"/>
              </a:defRPr>
            </a:pPr>
            <a:r>
              <a:rPr sz="1200" dirty="0" err="1"/>
              <a:t>ReportLab</a:t>
            </a:r>
            <a:r>
              <a:rPr sz="1200" dirty="0"/>
              <a:t> PDF (with Indic fonts), DOCX &amp; TXT</a:t>
            </a:r>
          </a:p>
        </p:txBody>
      </p:sp>
      <p:sp>
        <p:nvSpPr>
          <p:cNvPr id="48" name="TextBox 47"/>
          <p:cNvSpPr txBox="1"/>
          <p:nvPr/>
        </p:nvSpPr>
        <p:spPr>
          <a:xfrm>
            <a:off x="8540496" y="4910327"/>
            <a:ext cx="247760" cy="270843"/>
          </a:xfrm>
          <a:prstGeom prst="rect">
            <a:avLst/>
          </a:prstGeom>
          <a:noFill/>
        </p:spPr>
        <p:txBody>
          <a:bodyPr wrap="none" lIns="27432" tIns="27432" rIns="27432" bIns="27432" anchor="t">
            <a:spAutoFit/>
          </a:bodyPr>
          <a:lstStyle/>
          <a:p>
            <a:pPr algn="l"/>
            <a:r>
              <a:rPr sz="1400" b="1" i="0" dirty="0">
                <a:solidFill>
                  <a:srgbClr val="775BB3"/>
                </a:solidFill>
                <a:latin typeface="Aptos"/>
              </a:rPr>
              <a:t>04</a:t>
            </a:r>
          </a:p>
        </p:txBody>
      </p:sp>
      <p:sp>
        <p:nvSpPr>
          <p:cNvPr id="49" name="TextBox 48"/>
          <p:cNvSpPr txBox="1"/>
          <p:nvPr/>
        </p:nvSpPr>
        <p:spPr>
          <a:xfrm>
            <a:off x="8808884" y="4926162"/>
            <a:ext cx="2145906" cy="270843"/>
          </a:xfrm>
          <a:prstGeom prst="rect">
            <a:avLst/>
          </a:prstGeom>
          <a:noFill/>
        </p:spPr>
        <p:txBody>
          <a:bodyPr wrap="square" lIns="27432" tIns="27432" rIns="27432" bIns="27432" anchor="t">
            <a:spAutoFit/>
          </a:bodyPr>
          <a:lstStyle/>
          <a:p>
            <a:pPr>
              <a:defRPr sz="900">
                <a:latin typeface="Segoe UI"/>
              </a:defRPr>
            </a:pPr>
            <a:r>
              <a:rPr sz="1400" b="1"/>
              <a:t>Productivity Analytics</a:t>
            </a:r>
          </a:p>
        </p:txBody>
      </p:sp>
      <p:sp>
        <p:nvSpPr>
          <p:cNvPr id="50" name="TextBox 49"/>
          <p:cNvSpPr txBox="1"/>
          <p:nvPr/>
        </p:nvSpPr>
        <p:spPr>
          <a:xfrm>
            <a:off x="8915400" y="5212079"/>
            <a:ext cx="2961003" cy="240066"/>
          </a:xfrm>
          <a:prstGeom prst="rect">
            <a:avLst/>
          </a:prstGeom>
          <a:noFill/>
        </p:spPr>
        <p:txBody>
          <a:bodyPr wrap="none" lIns="27432" tIns="27432" rIns="27432" bIns="27432" anchor="t">
            <a:spAutoFit/>
          </a:bodyPr>
          <a:lstStyle/>
          <a:p>
            <a:pPr>
              <a:defRPr sz="900">
                <a:latin typeface="Segoe UI"/>
              </a:defRPr>
            </a:pPr>
            <a:r>
              <a:rPr sz="1200"/>
              <a:t>Duration trends, task velocity &amp; time saved</a:t>
            </a:r>
          </a:p>
        </p:txBody>
      </p:sp>
      <p:sp>
        <p:nvSpPr>
          <p:cNvPr id="51" name="TextBox 50"/>
          <p:cNvSpPr txBox="1"/>
          <p:nvPr/>
        </p:nvSpPr>
        <p:spPr>
          <a:xfrm>
            <a:off x="566928" y="6519672"/>
            <a:ext cx="8138160" cy="201168"/>
          </a:xfrm>
          <a:prstGeom prst="rect">
            <a:avLst/>
          </a:prstGeom>
          <a:noFill/>
        </p:spPr>
        <p:txBody>
          <a:bodyPr wrap="none" lIns="27432" tIns="27432" rIns="27432" bIns="27432" anchor="t">
            <a:spAutoFit/>
          </a:bodyPr>
          <a:lstStyle/>
          <a:p>
            <a:pPr algn="l"/>
            <a:r>
              <a:rPr sz="850" b="0" i="0" dirty="0" err="1">
                <a:solidFill>
                  <a:srgbClr val="5D6A79"/>
                </a:solidFill>
                <a:latin typeface="Aptos"/>
              </a:rPr>
              <a:t>VoiceNote</a:t>
            </a:r>
            <a:r>
              <a:rPr sz="850" b="0" i="0" dirty="0">
                <a:solidFill>
                  <a:srgbClr val="5D6A79"/>
                </a:solidFill>
                <a:latin typeface="Aptos"/>
              </a:rPr>
              <a:t>  •  Open Source Project Lab  •  B.E. IT  •  Semester VII</a:t>
            </a:r>
          </a:p>
        </p:txBody>
      </p:sp>
      <p:sp>
        <p:nvSpPr>
          <p:cNvPr id="52" name="TextBox 51"/>
          <p:cNvSpPr txBox="1"/>
          <p:nvPr/>
        </p:nvSpPr>
        <p:spPr>
          <a:xfrm>
            <a:off x="10881360" y="6519672"/>
            <a:ext cx="731520" cy="201168"/>
          </a:xfrm>
          <a:prstGeom prst="rect">
            <a:avLst/>
          </a:prstGeom>
          <a:noFill/>
        </p:spPr>
        <p:txBody>
          <a:bodyPr wrap="none" lIns="27432" tIns="27432" rIns="27432" bIns="27432" anchor="t">
            <a:spAutoFit/>
          </a:bodyPr>
          <a:lstStyle/>
          <a:p>
            <a:pPr>
              <a:defRPr sz="900">
                <a:latin typeface="Segoe UI"/>
              </a:defRPr>
            </a:pPr>
            <a:r>
              <a:t>04 / 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p:cNvSpPr/>
          <p:nvPr/>
        </p:nvSpPr>
        <p:spPr>
          <a:xfrm>
            <a:off x="153972" y="512489"/>
            <a:ext cx="960120" cy="50292"/>
          </a:xfrm>
          <a:prstGeom prst="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18520" y="411480"/>
            <a:ext cx="594360" cy="320040"/>
          </a:xfrm>
          <a:prstGeom prst="rect">
            <a:avLst/>
          </a:prstGeom>
          <a:noFill/>
        </p:spPr>
        <p:txBody>
          <a:bodyPr wrap="none" lIns="27432" tIns="27432" rIns="27432" bIns="27432" anchor="t">
            <a:spAutoFit/>
          </a:bodyPr>
          <a:lstStyle/>
          <a:p>
            <a:pPr>
              <a:defRPr sz="1100">
                <a:latin typeface="Segoe UI"/>
              </a:defRPr>
            </a:pPr>
            <a:r>
              <a:t>06</a:t>
            </a:r>
          </a:p>
        </p:txBody>
      </p:sp>
      <p:sp>
        <p:nvSpPr>
          <p:cNvPr id="46" name="TextBox 45"/>
          <p:cNvSpPr txBox="1"/>
          <p:nvPr/>
        </p:nvSpPr>
        <p:spPr>
          <a:xfrm>
            <a:off x="566928" y="6519672"/>
            <a:ext cx="8138160" cy="201168"/>
          </a:xfrm>
          <a:prstGeom prst="rect">
            <a:avLst/>
          </a:prstGeom>
          <a:noFill/>
        </p:spPr>
        <p:txBody>
          <a:bodyPr wrap="none" lIns="27432" tIns="27432" rIns="27432" bIns="27432" anchor="t">
            <a:spAutoFit/>
          </a:bodyPr>
          <a:lstStyle/>
          <a:p>
            <a:pPr algn="l"/>
            <a:r>
              <a:rPr sz="850" b="0" i="0">
                <a:solidFill>
                  <a:srgbClr val="5D6A79"/>
                </a:solidFill>
                <a:latin typeface="Aptos"/>
              </a:rPr>
              <a:t>VoiceNote  •  Open Source Project Lab  •  B.E. IT  •  Semester VII</a:t>
            </a:r>
          </a:p>
        </p:txBody>
      </p:sp>
      <p:sp>
        <p:nvSpPr>
          <p:cNvPr id="47" name="TextBox 46"/>
          <p:cNvSpPr txBox="1"/>
          <p:nvPr/>
        </p:nvSpPr>
        <p:spPr>
          <a:xfrm>
            <a:off x="10881360" y="6519672"/>
            <a:ext cx="731520" cy="201168"/>
          </a:xfrm>
          <a:prstGeom prst="rect">
            <a:avLst/>
          </a:prstGeom>
          <a:noFill/>
        </p:spPr>
        <p:txBody>
          <a:bodyPr wrap="none" lIns="27432" tIns="27432" rIns="27432" bIns="27432" anchor="t">
            <a:spAutoFit/>
          </a:bodyPr>
          <a:lstStyle/>
          <a:p>
            <a:pPr>
              <a:defRPr sz="900">
                <a:latin typeface="Segoe UI"/>
              </a:defRPr>
            </a:pPr>
            <a:r>
              <a:t>06 / 17</a:t>
            </a:r>
          </a:p>
        </p:txBody>
      </p:sp>
      <p:pic>
        <p:nvPicPr>
          <p:cNvPr id="48" name="Picture 47">
            <a:extLst>
              <a:ext uri="{FF2B5EF4-FFF2-40B4-BE49-F238E27FC236}">
                <a16:creationId xmlns:a16="http://schemas.microsoft.com/office/drawing/2014/main" id="{0CF8D1A3-06B2-C368-CD0C-1C1016033778}"/>
              </a:ext>
            </a:extLst>
          </p:cNvPr>
          <p:cNvPicPr>
            <a:picLocks noChangeAspect="1"/>
          </p:cNvPicPr>
          <p:nvPr/>
        </p:nvPicPr>
        <p:blipFill>
          <a:blip r:embed="rId2"/>
          <a:srcRect t="10818"/>
          <a:stretch/>
        </p:blipFill>
        <p:spPr>
          <a:xfrm>
            <a:off x="205248" y="1058843"/>
            <a:ext cx="11664114" cy="4790220"/>
          </a:xfrm>
          <a:prstGeom prst="rect">
            <a:avLst/>
          </a:prstGeom>
        </p:spPr>
      </p:pic>
      <p:sp>
        <p:nvSpPr>
          <p:cNvPr id="49" name="TextBox 48">
            <a:extLst>
              <a:ext uri="{FF2B5EF4-FFF2-40B4-BE49-F238E27FC236}">
                <a16:creationId xmlns:a16="http://schemas.microsoft.com/office/drawing/2014/main" id="{D64F4D28-6A53-FA5A-180E-7E14A6626F20}"/>
              </a:ext>
            </a:extLst>
          </p:cNvPr>
          <p:cNvSpPr txBox="1"/>
          <p:nvPr/>
        </p:nvSpPr>
        <p:spPr>
          <a:xfrm>
            <a:off x="153972" y="21456"/>
            <a:ext cx="5253769" cy="424732"/>
          </a:xfrm>
          <a:prstGeom prst="rect">
            <a:avLst/>
          </a:prstGeom>
          <a:noFill/>
        </p:spPr>
        <p:txBody>
          <a:bodyPr wrap="square" lIns="27432" tIns="27432" rIns="27432" bIns="27432">
            <a:spAutoFit/>
          </a:bodyPr>
          <a:lstStyle/>
          <a:p>
            <a:pPr>
              <a:defRPr sz="2400">
                <a:latin typeface="Segoe UI"/>
              </a:defRPr>
            </a:pPr>
            <a:r>
              <a:rPr lang="en-US" dirty="0"/>
              <a:t>User Flow Diagram</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9875520" cy="502920"/>
          </a:xfrm>
          <a:prstGeom prst="rect">
            <a:avLst/>
          </a:prstGeom>
          <a:noFill/>
        </p:spPr>
        <p:txBody>
          <a:bodyPr wrap="none" lIns="27432" tIns="27432" rIns="27432" bIns="27432" anchor="t">
            <a:spAutoFit/>
          </a:bodyPr>
          <a:lstStyle/>
          <a:p>
            <a:pPr>
              <a:defRPr sz="1100">
                <a:latin typeface="Segoe UI"/>
              </a:defRPr>
            </a:pPr>
            <a:r>
              <a:t>Technology Stack &amp; Production Components</a:t>
            </a:r>
          </a:p>
        </p:txBody>
      </p:sp>
      <p:sp>
        <p:nvSpPr>
          <p:cNvPr id="3" name="TextBox 2"/>
          <p:cNvSpPr txBox="1"/>
          <p:nvPr/>
        </p:nvSpPr>
        <p:spPr>
          <a:xfrm>
            <a:off x="585216" y="877824"/>
            <a:ext cx="10424160" cy="384048"/>
          </a:xfrm>
          <a:prstGeom prst="rect">
            <a:avLst/>
          </a:prstGeom>
          <a:noFill/>
        </p:spPr>
        <p:txBody>
          <a:bodyPr wrap="none" lIns="27432" tIns="27432" rIns="27432" bIns="27432" anchor="t">
            <a:spAutoFit/>
          </a:bodyPr>
          <a:lstStyle/>
          <a:p>
            <a:pPr>
              <a:defRPr sz="1100">
                <a:latin typeface="Segoe UI"/>
              </a:defRPr>
            </a:pPr>
            <a:r>
              <a:t>Production-grade open-source and modern AI frameworks mapped to clear architectural responsibilities.</a:t>
            </a:r>
          </a:p>
        </p:txBody>
      </p:sp>
      <p:sp>
        <p:nvSpPr>
          <p:cNvPr id="4" name="Rectangle 3"/>
          <p:cNvSpPr/>
          <p:nvPr/>
        </p:nvSpPr>
        <p:spPr>
          <a:xfrm>
            <a:off x="566928" y="1261872"/>
            <a:ext cx="960120" cy="50292"/>
          </a:xfrm>
          <a:prstGeom prst="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18520" y="411480"/>
            <a:ext cx="594360" cy="320040"/>
          </a:xfrm>
          <a:prstGeom prst="rect">
            <a:avLst/>
          </a:prstGeom>
          <a:noFill/>
        </p:spPr>
        <p:txBody>
          <a:bodyPr wrap="none" lIns="27432" tIns="27432" rIns="27432" bIns="27432" anchor="t">
            <a:spAutoFit/>
          </a:bodyPr>
          <a:lstStyle/>
          <a:p>
            <a:pPr>
              <a:defRPr sz="1100">
                <a:latin typeface="Segoe UI"/>
              </a:defRPr>
            </a:pPr>
            <a:r>
              <a:t>07</a:t>
            </a:r>
          </a:p>
        </p:txBody>
      </p:sp>
      <p:sp>
        <p:nvSpPr>
          <p:cNvPr id="6" name="TextBox 5"/>
          <p:cNvSpPr txBox="1"/>
          <p:nvPr/>
        </p:nvSpPr>
        <p:spPr>
          <a:xfrm>
            <a:off x="685800" y="1481328"/>
            <a:ext cx="898772" cy="301621"/>
          </a:xfrm>
          <a:prstGeom prst="rect">
            <a:avLst/>
          </a:prstGeom>
          <a:noFill/>
        </p:spPr>
        <p:txBody>
          <a:bodyPr wrap="none" lIns="27432" tIns="27432" rIns="27432" bIns="27432" anchor="t">
            <a:spAutoFit/>
          </a:bodyPr>
          <a:lstStyle/>
          <a:p>
            <a:pPr>
              <a:defRPr sz="1100">
                <a:latin typeface="Segoe UI"/>
              </a:defRPr>
            </a:pPr>
            <a:r>
              <a:t>Frontend GUI</a:t>
            </a:r>
          </a:p>
        </p:txBody>
      </p:sp>
      <p:sp>
        <p:nvSpPr>
          <p:cNvPr id="7" name="Rounded Rectangle 6"/>
          <p:cNvSpPr/>
          <p:nvPr/>
        </p:nvSpPr>
        <p:spPr>
          <a:xfrm>
            <a:off x="2556057" y="1389757"/>
            <a:ext cx="2240280" cy="393192"/>
          </a:xfrm>
          <a:prstGeom prst="roundRect">
            <a:avLst/>
          </a:prstGeom>
          <a:solidFill>
            <a:srgbClr val="FFFFFF"/>
          </a:solidFill>
          <a:ln>
            <a:solidFill>
              <a:srgbClr val="2468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70073" y="1444621"/>
            <a:ext cx="803105" cy="301621"/>
          </a:xfrm>
          <a:prstGeom prst="rect">
            <a:avLst/>
          </a:prstGeom>
          <a:noFill/>
        </p:spPr>
        <p:txBody>
          <a:bodyPr wrap="none" lIns="27432" tIns="27432" rIns="27432" bIns="27432" anchor="t">
            <a:spAutoFit/>
          </a:bodyPr>
          <a:lstStyle/>
          <a:p>
            <a:pPr>
              <a:defRPr sz="1100">
                <a:latin typeface="Segoe UI"/>
              </a:defRPr>
            </a:pPr>
            <a:r>
              <a:t>PySide6 (Qt6)</a:t>
            </a:r>
          </a:p>
        </p:txBody>
      </p:sp>
      <p:sp>
        <p:nvSpPr>
          <p:cNvPr id="9" name="TextBox 8"/>
          <p:cNvSpPr txBox="1"/>
          <p:nvPr/>
        </p:nvSpPr>
        <p:spPr>
          <a:xfrm>
            <a:off x="5070657" y="1408045"/>
            <a:ext cx="4179221" cy="301621"/>
          </a:xfrm>
          <a:prstGeom prst="rect">
            <a:avLst/>
          </a:prstGeom>
          <a:noFill/>
        </p:spPr>
        <p:txBody>
          <a:bodyPr wrap="none" lIns="27432" tIns="27432" rIns="27432" bIns="27432" anchor="t">
            <a:spAutoFit/>
          </a:bodyPr>
          <a:lstStyle/>
          <a:p>
            <a:pPr>
              <a:defRPr sz="900">
                <a:latin typeface="Segoe UI"/>
              </a:defRPr>
            </a:pPr>
            <a:r>
              <a:t>High-performance native desktop UI, Bento Grid layout &amp; Lucide SVG icons</a:t>
            </a:r>
          </a:p>
        </p:txBody>
      </p:sp>
      <p:sp>
        <p:nvSpPr>
          <p:cNvPr id="10" name="TextBox 9"/>
          <p:cNvSpPr txBox="1"/>
          <p:nvPr/>
        </p:nvSpPr>
        <p:spPr>
          <a:xfrm>
            <a:off x="685800" y="2039112"/>
            <a:ext cx="865301" cy="301621"/>
          </a:xfrm>
          <a:prstGeom prst="rect">
            <a:avLst/>
          </a:prstGeom>
          <a:noFill/>
        </p:spPr>
        <p:txBody>
          <a:bodyPr wrap="none" lIns="27432" tIns="27432" rIns="27432" bIns="27432" anchor="t">
            <a:spAutoFit/>
          </a:bodyPr>
          <a:lstStyle/>
          <a:p>
            <a:pPr>
              <a:defRPr sz="1100">
                <a:latin typeface="Segoe UI"/>
              </a:defRPr>
            </a:pPr>
            <a:r>
              <a:t>Audio Engine</a:t>
            </a:r>
          </a:p>
        </p:txBody>
      </p:sp>
      <p:sp>
        <p:nvSpPr>
          <p:cNvPr id="11" name="Rounded Rectangle 10"/>
          <p:cNvSpPr/>
          <p:nvPr/>
        </p:nvSpPr>
        <p:spPr>
          <a:xfrm>
            <a:off x="2556057" y="1947541"/>
            <a:ext cx="2240280" cy="393192"/>
          </a:xfrm>
          <a:prstGeom prst="roundRect">
            <a:avLst/>
          </a:prstGeom>
          <a:solidFill>
            <a:srgbClr val="FFFFFF"/>
          </a:solidFill>
          <a:ln>
            <a:solidFill>
              <a:srgbClr val="19897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88282" y="2002405"/>
            <a:ext cx="766685" cy="301621"/>
          </a:xfrm>
          <a:prstGeom prst="rect">
            <a:avLst/>
          </a:prstGeom>
          <a:noFill/>
        </p:spPr>
        <p:txBody>
          <a:bodyPr wrap="none" lIns="27432" tIns="27432" rIns="27432" bIns="27432" anchor="t">
            <a:spAutoFit/>
          </a:bodyPr>
          <a:lstStyle/>
          <a:p>
            <a:pPr>
              <a:defRPr sz="1100">
                <a:latin typeface="Segoe UI"/>
              </a:defRPr>
            </a:pPr>
            <a:r>
              <a:rPr dirty="0" err="1"/>
              <a:t>PyAudioWPatch</a:t>
            </a:r>
            <a:r>
              <a:rPr dirty="0"/>
              <a:t> + </a:t>
            </a:r>
            <a:r>
              <a:rPr dirty="0" err="1"/>
              <a:t>SoundDevice</a:t>
            </a:r>
            <a:endParaRPr dirty="0"/>
          </a:p>
        </p:txBody>
      </p:sp>
      <p:sp>
        <p:nvSpPr>
          <p:cNvPr id="13" name="TextBox 12"/>
          <p:cNvSpPr txBox="1"/>
          <p:nvPr/>
        </p:nvSpPr>
        <p:spPr>
          <a:xfrm>
            <a:off x="5070657" y="1965829"/>
            <a:ext cx="3853427" cy="301621"/>
          </a:xfrm>
          <a:prstGeom prst="rect">
            <a:avLst/>
          </a:prstGeom>
          <a:noFill/>
        </p:spPr>
        <p:txBody>
          <a:bodyPr wrap="none" lIns="27432" tIns="27432" rIns="27432" bIns="27432" anchor="t">
            <a:spAutoFit/>
          </a:bodyPr>
          <a:lstStyle/>
          <a:p>
            <a:pPr>
              <a:defRPr sz="900">
                <a:latin typeface="Segoe UI"/>
              </a:defRPr>
            </a:pPr>
            <a:r>
              <a:t>Hardware loopback for Zoom/Teams/Meet, mic capture &amp; real-time dBFS visualizer</a:t>
            </a:r>
          </a:p>
        </p:txBody>
      </p:sp>
      <p:sp>
        <p:nvSpPr>
          <p:cNvPr id="14" name="TextBox 13"/>
          <p:cNvSpPr txBox="1"/>
          <p:nvPr/>
        </p:nvSpPr>
        <p:spPr>
          <a:xfrm>
            <a:off x="685800" y="2596896"/>
            <a:ext cx="953979" cy="301621"/>
          </a:xfrm>
          <a:prstGeom prst="rect">
            <a:avLst/>
          </a:prstGeom>
          <a:noFill/>
        </p:spPr>
        <p:txBody>
          <a:bodyPr wrap="none" lIns="27432" tIns="27432" rIns="27432" bIns="27432" anchor="t">
            <a:spAutoFit/>
          </a:bodyPr>
          <a:lstStyle/>
          <a:p>
            <a:pPr>
              <a:defRPr sz="1100">
                <a:latin typeface="Segoe UI"/>
              </a:defRPr>
            </a:pPr>
            <a:r>
              <a:t>Relational DB</a:t>
            </a:r>
          </a:p>
        </p:txBody>
      </p:sp>
      <p:sp>
        <p:nvSpPr>
          <p:cNvPr id="15" name="Rounded Rectangle 14"/>
          <p:cNvSpPr/>
          <p:nvPr/>
        </p:nvSpPr>
        <p:spPr>
          <a:xfrm>
            <a:off x="2556057" y="2505325"/>
            <a:ext cx="2240280" cy="393192"/>
          </a:xfrm>
          <a:prstGeom prst="roundRect">
            <a:avLst/>
          </a:prstGeom>
          <a:solidFill>
            <a:srgbClr val="FFFFFF"/>
          </a:solidFill>
          <a:ln>
            <a:solidFill>
              <a:srgbClr val="775BB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TextBox 15"/>
          <p:cNvSpPr txBox="1"/>
          <p:nvPr/>
        </p:nvSpPr>
        <p:spPr>
          <a:xfrm>
            <a:off x="2620065" y="2560189"/>
            <a:ext cx="2103120" cy="256032"/>
          </a:xfrm>
          <a:prstGeom prst="rect">
            <a:avLst/>
          </a:prstGeom>
          <a:noFill/>
        </p:spPr>
        <p:txBody>
          <a:bodyPr wrap="none" lIns="27432" tIns="27432" rIns="27432" bIns="27432" anchor="t">
            <a:spAutoFit/>
          </a:bodyPr>
          <a:lstStyle/>
          <a:p>
            <a:pPr>
              <a:defRPr sz="1100">
                <a:latin typeface="Segoe UI"/>
              </a:defRPr>
            </a:pPr>
            <a:r>
              <a:t>PostgreSQL 14+ (psycopg2)</a:t>
            </a:r>
          </a:p>
        </p:txBody>
      </p:sp>
      <p:sp>
        <p:nvSpPr>
          <p:cNvPr id="17" name="TextBox 16"/>
          <p:cNvSpPr txBox="1"/>
          <p:nvPr/>
        </p:nvSpPr>
        <p:spPr>
          <a:xfrm>
            <a:off x="5070657" y="2523613"/>
            <a:ext cx="2438040" cy="301621"/>
          </a:xfrm>
          <a:prstGeom prst="rect">
            <a:avLst/>
          </a:prstGeom>
          <a:noFill/>
        </p:spPr>
        <p:txBody>
          <a:bodyPr wrap="none" lIns="27432" tIns="27432" rIns="27432" bIns="27432" anchor="t">
            <a:spAutoFit/>
          </a:bodyPr>
          <a:lstStyle/>
          <a:p>
            <a:pPr>
              <a:defRPr sz="900">
                <a:latin typeface="Segoe UI"/>
              </a:defRPr>
            </a:pPr>
            <a:r>
              <a:t>ACID relational persistence, users, transcripts, tasks &amp; cascading deletion constraints</a:t>
            </a:r>
          </a:p>
        </p:txBody>
      </p:sp>
      <p:sp>
        <p:nvSpPr>
          <p:cNvPr id="18" name="TextBox 17"/>
          <p:cNvSpPr txBox="1"/>
          <p:nvPr/>
        </p:nvSpPr>
        <p:spPr>
          <a:xfrm>
            <a:off x="685800" y="3154679"/>
            <a:ext cx="493020" cy="301621"/>
          </a:xfrm>
          <a:prstGeom prst="rect">
            <a:avLst/>
          </a:prstGeom>
          <a:noFill/>
        </p:spPr>
        <p:txBody>
          <a:bodyPr wrap="none" lIns="27432" tIns="27432" rIns="27432" bIns="27432" anchor="t">
            <a:spAutoFit/>
          </a:bodyPr>
          <a:lstStyle/>
          <a:p>
            <a:pPr>
              <a:defRPr sz="1100">
                <a:latin typeface="Segoe UI"/>
              </a:defRPr>
            </a:pPr>
            <a:r>
              <a:t>Vector DB</a:t>
            </a:r>
          </a:p>
        </p:txBody>
      </p:sp>
      <p:sp>
        <p:nvSpPr>
          <p:cNvPr id="19" name="Rounded Rectangle 18"/>
          <p:cNvSpPr/>
          <p:nvPr/>
        </p:nvSpPr>
        <p:spPr>
          <a:xfrm>
            <a:off x="2556057" y="3063108"/>
            <a:ext cx="2240280" cy="393192"/>
          </a:xfrm>
          <a:prstGeom prst="roundRect">
            <a:avLst/>
          </a:prstGeom>
          <a:solidFill>
            <a:srgbClr val="FFFFFF"/>
          </a:solidFill>
          <a:ln>
            <a:solidFill>
              <a:srgbClr val="CD4B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08852" y="3117973"/>
            <a:ext cx="1525546" cy="301621"/>
          </a:xfrm>
          <a:prstGeom prst="rect">
            <a:avLst/>
          </a:prstGeom>
          <a:noFill/>
        </p:spPr>
        <p:txBody>
          <a:bodyPr wrap="none" lIns="27432" tIns="27432" rIns="27432" bIns="27432" anchor="t">
            <a:spAutoFit/>
          </a:bodyPr>
          <a:lstStyle/>
          <a:p>
            <a:pPr>
              <a:defRPr sz="1100">
                <a:latin typeface="Segoe UI"/>
              </a:defRPr>
            </a:pPr>
            <a:r>
              <a:t>ChromaDB (chromadb)</a:t>
            </a:r>
          </a:p>
        </p:txBody>
      </p:sp>
      <p:sp>
        <p:nvSpPr>
          <p:cNvPr id="21" name="TextBox 20"/>
          <p:cNvSpPr txBox="1"/>
          <p:nvPr/>
        </p:nvSpPr>
        <p:spPr>
          <a:xfrm>
            <a:off x="5070657" y="3081396"/>
            <a:ext cx="3809761" cy="301621"/>
          </a:xfrm>
          <a:prstGeom prst="rect">
            <a:avLst/>
          </a:prstGeom>
          <a:noFill/>
        </p:spPr>
        <p:txBody>
          <a:bodyPr wrap="none" lIns="27432" tIns="27432" rIns="27432" bIns="27432" anchor="t">
            <a:spAutoFit/>
          </a:bodyPr>
          <a:lstStyle/>
          <a:p>
            <a:pPr>
              <a:defRPr sz="900">
                <a:latin typeface="Segoe UI"/>
              </a:defRPr>
            </a:pPr>
            <a:r>
              <a:t>Local vector store with 384-dim dense embeddings (all-MiniLM-L6-v2) &amp; cosine search</a:t>
            </a:r>
          </a:p>
        </p:txBody>
      </p:sp>
      <p:sp>
        <p:nvSpPr>
          <p:cNvPr id="22" name="TextBox 21"/>
          <p:cNvSpPr txBox="1"/>
          <p:nvPr/>
        </p:nvSpPr>
        <p:spPr>
          <a:xfrm>
            <a:off x="685800" y="3712463"/>
            <a:ext cx="1508760" cy="310896"/>
          </a:xfrm>
          <a:prstGeom prst="rect">
            <a:avLst/>
          </a:prstGeom>
          <a:noFill/>
        </p:spPr>
        <p:txBody>
          <a:bodyPr wrap="none" lIns="27432" tIns="27432" rIns="27432" bIns="27432" anchor="t">
            <a:spAutoFit/>
          </a:bodyPr>
          <a:lstStyle/>
          <a:p>
            <a:pPr>
              <a:defRPr sz="1100">
                <a:latin typeface="Segoe UI"/>
              </a:defRPr>
            </a:pPr>
            <a:r>
              <a:t>Speech-to-Text</a:t>
            </a:r>
          </a:p>
        </p:txBody>
      </p:sp>
      <p:sp>
        <p:nvSpPr>
          <p:cNvPr id="23" name="Rounded Rectangle 22"/>
          <p:cNvSpPr/>
          <p:nvPr/>
        </p:nvSpPr>
        <p:spPr>
          <a:xfrm>
            <a:off x="2556057" y="3620893"/>
            <a:ext cx="2240280" cy="393192"/>
          </a:xfrm>
          <a:prstGeom prst="roundRect">
            <a:avLst/>
          </a:prstGeom>
          <a:solidFill>
            <a:srgbClr val="FFFFFF"/>
          </a:solidFill>
          <a:ln>
            <a:solidFill>
              <a:srgbClr val="E784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887307" y="3675756"/>
            <a:ext cx="1568635" cy="301621"/>
          </a:xfrm>
          <a:prstGeom prst="rect">
            <a:avLst/>
          </a:prstGeom>
          <a:noFill/>
        </p:spPr>
        <p:txBody>
          <a:bodyPr wrap="none" lIns="27432" tIns="27432" rIns="27432" bIns="27432" anchor="t">
            <a:spAutoFit/>
          </a:bodyPr>
          <a:lstStyle/>
          <a:p>
            <a:pPr>
              <a:defRPr sz="1100">
                <a:latin typeface="Segoe UI"/>
              </a:defRPr>
            </a:pPr>
            <a:r>
              <a:t>Faster-Whisper + Groq API</a:t>
            </a:r>
          </a:p>
        </p:txBody>
      </p:sp>
      <p:sp>
        <p:nvSpPr>
          <p:cNvPr id="25" name="TextBox 24"/>
          <p:cNvSpPr txBox="1"/>
          <p:nvPr/>
        </p:nvSpPr>
        <p:spPr>
          <a:xfrm>
            <a:off x="5070657" y="3639180"/>
            <a:ext cx="3661130" cy="301621"/>
          </a:xfrm>
          <a:prstGeom prst="rect">
            <a:avLst/>
          </a:prstGeom>
          <a:noFill/>
        </p:spPr>
        <p:txBody>
          <a:bodyPr wrap="none" lIns="27432" tIns="27432" rIns="27432" bIns="27432" anchor="t">
            <a:spAutoFit/>
          </a:bodyPr>
          <a:lstStyle/>
          <a:p>
            <a:pPr>
              <a:defRPr sz="900">
                <a:latin typeface="Segoe UI"/>
              </a:defRPr>
            </a:pPr>
            <a:r>
              <a:t>GPU/CPU accelerated local CTranslate2 transcription + whisper-large-v3 cloud fallback</a:t>
            </a:r>
          </a:p>
        </p:txBody>
      </p:sp>
      <p:sp>
        <p:nvSpPr>
          <p:cNvPr id="26" name="TextBox 25"/>
          <p:cNvSpPr txBox="1"/>
          <p:nvPr/>
        </p:nvSpPr>
        <p:spPr>
          <a:xfrm>
            <a:off x="685800" y="4270248"/>
            <a:ext cx="435312" cy="301621"/>
          </a:xfrm>
          <a:prstGeom prst="rect">
            <a:avLst/>
          </a:prstGeom>
          <a:noFill/>
        </p:spPr>
        <p:txBody>
          <a:bodyPr wrap="none" lIns="27432" tIns="27432" rIns="27432" bIns="27432" anchor="t">
            <a:spAutoFit/>
          </a:bodyPr>
          <a:lstStyle/>
          <a:p>
            <a:pPr>
              <a:defRPr sz="1100">
                <a:latin typeface="Segoe UI"/>
              </a:defRPr>
            </a:pPr>
            <a:r>
              <a:t>Generative AI</a:t>
            </a:r>
          </a:p>
        </p:txBody>
      </p:sp>
      <p:sp>
        <p:nvSpPr>
          <p:cNvPr id="27" name="Rounded Rectangle 26"/>
          <p:cNvSpPr/>
          <p:nvPr/>
        </p:nvSpPr>
        <p:spPr>
          <a:xfrm>
            <a:off x="2556057" y="4178677"/>
            <a:ext cx="2240280" cy="393192"/>
          </a:xfrm>
          <a:prstGeom prst="roundRect">
            <a:avLst/>
          </a:prstGeom>
          <a:solidFill>
            <a:srgbClr val="FFFFFF"/>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2620065" y="4233541"/>
            <a:ext cx="2103120" cy="256032"/>
          </a:xfrm>
          <a:prstGeom prst="rect">
            <a:avLst/>
          </a:prstGeom>
          <a:noFill/>
        </p:spPr>
        <p:txBody>
          <a:bodyPr wrap="none" lIns="27432" tIns="27432" rIns="27432" bIns="27432" anchor="t">
            <a:spAutoFit/>
          </a:bodyPr>
          <a:lstStyle/>
          <a:p>
            <a:pPr>
              <a:defRPr sz="1100">
                <a:latin typeface="Segoe UI"/>
              </a:defRPr>
            </a:pPr>
            <a:r>
              <a:t>Gemini 3.8 Flash (Google GenAI)</a:t>
            </a:r>
          </a:p>
        </p:txBody>
      </p:sp>
      <p:sp>
        <p:nvSpPr>
          <p:cNvPr id="29" name="TextBox 28"/>
          <p:cNvSpPr txBox="1"/>
          <p:nvPr/>
        </p:nvSpPr>
        <p:spPr>
          <a:xfrm>
            <a:off x="5070657" y="4196965"/>
            <a:ext cx="3523465" cy="301621"/>
          </a:xfrm>
          <a:prstGeom prst="rect">
            <a:avLst/>
          </a:prstGeom>
          <a:noFill/>
        </p:spPr>
        <p:txBody>
          <a:bodyPr wrap="none" lIns="27432" tIns="27432" rIns="27432" bIns="27432" anchor="t">
            <a:spAutoFit/>
          </a:bodyPr>
          <a:lstStyle/>
          <a:p>
            <a:pPr>
              <a:defRPr sz="900">
                <a:latin typeface="Segoe UI"/>
              </a:defRPr>
            </a:pPr>
            <a:r>
              <a:rPr dirty="0"/>
              <a:t>Executive summaries, task extraction &amp; resilient multi-tier fallback ladder (2.5/2.0/1.5)</a:t>
            </a:r>
          </a:p>
        </p:txBody>
      </p:sp>
      <p:sp>
        <p:nvSpPr>
          <p:cNvPr id="30" name="TextBox 29"/>
          <p:cNvSpPr txBox="1"/>
          <p:nvPr/>
        </p:nvSpPr>
        <p:spPr>
          <a:xfrm>
            <a:off x="685800" y="4828032"/>
            <a:ext cx="1360116" cy="301621"/>
          </a:xfrm>
          <a:prstGeom prst="rect">
            <a:avLst/>
          </a:prstGeom>
          <a:noFill/>
        </p:spPr>
        <p:txBody>
          <a:bodyPr wrap="none" lIns="27432" tIns="27432" rIns="27432" bIns="27432" anchor="t">
            <a:spAutoFit/>
          </a:bodyPr>
          <a:lstStyle/>
          <a:p>
            <a:pPr>
              <a:defRPr sz="1100">
                <a:latin typeface="Segoe UI"/>
              </a:defRPr>
            </a:pPr>
            <a:r>
              <a:t>Multilingual Polish</a:t>
            </a:r>
          </a:p>
        </p:txBody>
      </p:sp>
      <p:sp>
        <p:nvSpPr>
          <p:cNvPr id="31" name="Rounded Rectangle 30"/>
          <p:cNvSpPr/>
          <p:nvPr/>
        </p:nvSpPr>
        <p:spPr>
          <a:xfrm>
            <a:off x="2556057" y="4736461"/>
            <a:ext cx="2240280" cy="393192"/>
          </a:xfrm>
          <a:prstGeom prst="roundRect">
            <a:avLst/>
          </a:prstGeom>
          <a:solidFill>
            <a:srgbClr val="FFFFFF"/>
          </a:solidFill>
          <a:ln>
            <a:solidFill>
              <a:srgbClr val="329A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43908" y="4791325"/>
            <a:ext cx="2055434" cy="301621"/>
          </a:xfrm>
          <a:prstGeom prst="rect">
            <a:avLst/>
          </a:prstGeom>
          <a:noFill/>
        </p:spPr>
        <p:txBody>
          <a:bodyPr wrap="none" lIns="27432" tIns="27432" rIns="27432" bIns="27432" anchor="t">
            <a:spAutoFit/>
          </a:bodyPr>
          <a:lstStyle/>
          <a:p>
            <a:pPr>
              <a:defRPr sz="1100">
                <a:latin typeface="Segoe UI"/>
              </a:defRPr>
            </a:pPr>
            <a:r>
              <a:t>TranscriptCorrector (Gemini)</a:t>
            </a:r>
          </a:p>
        </p:txBody>
      </p:sp>
      <p:sp>
        <p:nvSpPr>
          <p:cNvPr id="33" name="TextBox 32"/>
          <p:cNvSpPr txBox="1"/>
          <p:nvPr/>
        </p:nvSpPr>
        <p:spPr>
          <a:xfrm>
            <a:off x="5070657" y="4754749"/>
            <a:ext cx="4119654" cy="301621"/>
          </a:xfrm>
          <a:prstGeom prst="rect">
            <a:avLst/>
          </a:prstGeom>
          <a:noFill/>
        </p:spPr>
        <p:txBody>
          <a:bodyPr wrap="none" lIns="27432" tIns="27432" rIns="27432" bIns="27432" anchor="t">
            <a:spAutoFit/>
          </a:bodyPr>
          <a:lstStyle/>
          <a:p>
            <a:pPr>
              <a:defRPr sz="900">
                <a:latin typeface="Segoe UI"/>
              </a:defRPr>
            </a:pPr>
            <a:r>
              <a:t>Devanagari Marathi/Hindi grammar restoration and Indian currency (₹) standardization</a:t>
            </a:r>
          </a:p>
        </p:txBody>
      </p:sp>
      <p:sp>
        <p:nvSpPr>
          <p:cNvPr id="34" name="TextBox 33"/>
          <p:cNvSpPr txBox="1"/>
          <p:nvPr/>
        </p:nvSpPr>
        <p:spPr>
          <a:xfrm>
            <a:off x="685800" y="5385816"/>
            <a:ext cx="792076" cy="301621"/>
          </a:xfrm>
          <a:prstGeom prst="rect">
            <a:avLst/>
          </a:prstGeom>
          <a:noFill/>
        </p:spPr>
        <p:txBody>
          <a:bodyPr wrap="none" lIns="27432" tIns="27432" rIns="27432" bIns="27432" anchor="t">
            <a:spAutoFit/>
          </a:bodyPr>
          <a:lstStyle/>
          <a:p>
            <a:pPr>
              <a:defRPr sz="1100">
                <a:latin typeface="Segoe UI"/>
              </a:defRPr>
            </a:pPr>
            <a:r>
              <a:t>Export &amp; Quality</a:t>
            </a:r>
          </a:p>
        </p:txBody>
      </p:sp>
      <p:sp>
        <p:nvSpPr>
          <p:cNvPr id="35" name="Rounded Rectangle 34"/>
          <p:cNvSpPr/>
          <p:nvPr/>
        </p:nvSpPr>
        <p:spPr>
          <a:xfrm>
            <a:off x="2556057" y="5294245"/>
            <a:ext cx="2240280" cy="393192"/>
          </a:xfrm>
          <a:prstGeom prst="roundRect">
            <a:avLst/>
          </a:prstGeom>
          <a:solidFill>
            <a:srgbClr val="FFFFFF"/>
          </a:solidFill>
          <a:ln>
            <a:solidFill>
              <a:srgbClr val="11223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6" name="TextBox 35"/>
          <p:cNvSpPr txBox="1"/>
          <p:nvPr/>
        </p:nvSpPr>
        <p:spPr>
          <a:xfrm>
            <a:off x="2620065" y="5349109"/>
            <a:ext cx="2103120" cy="256032"/>
          </a:xfrm>
          <a:prstGeom prst="rect">
            <a:avLst/>
          </a:prstGeom>
          <a:noFill/>
        </p:spPr>
        <p:txBody>
          <a:bodyPr wrap="none" lIns="27432" tIns="27432" rIns="27432" bIns="27432" anchor="t">
            <a:spAutoFit/>
          </a:bodyPr>
          <a:lstStyle/>
          <a:p>
            <a:pPr>
              <a:defRPr sz="1100">
                <a:latin typeface="Segoe UI"/>
              </a:defRPr>
            </a:pPr>
            <a:r>
              <a:t>ReportLab + DOCX + Test Runner</a:t>
            </a:r>
          </a:p>
        </p:txBody>
      </p:sp>
      <p:sp>
        <p:nvSpPr>
          <p:cNvPr id="37" name="TextBox 36"/>
          <p:cNvSpPr txBox="1"/>
          <p:nvPr/>
        </p:nvSpPr>
        <p:spPr>
          <a:xfrm>
            <a:off x="5070657" y="5312533"/>
            <a:ext cx="3882986" cy="301621"/>
          </a:xfrm>
          <a:prstGeom prst="rect">
            <a:avLst/>
          </a:prstGeom>
          <a:noFill/>
        </p:spPr>
        <p:txBody>
          <a:bodyPr wrap="none" lIns="27432" tIns="27432" rIns="27432" bIns="27432" anchor="t">
            <a:spAutoFit/>
          </a:bodyPr>
          <a:lstStyle/>
          <a:p>
            <a:pPr>
              <a:defRPr sz="900">
                <a:latin typeface="Segoe UI"/>
              </a:defRPr>
            </a:pPr>
            <a:r>
              <a:t>Multilingual PDF with Noto Sans Devanagari, Word DOCX &amp; 9-module automated test gate</a:t>
            </a:r>
          </a:p>
        </p:txBody>
      </p:sp>
      <p:sp>
        <p:nvSpPr>
          <p:cNvPr id="38" name="TextBox 37"/>
          <p:cNvSpPr txBox="1"/>
          <p:nvPr/>
        </p:nvSpPr>
        <p:spPr>
          <a:xfrm>
            <a:off x="163806" y="6564409"/>
            <a:ext cx="8138160" cy="201168"/>
          </a:xfrm>
          <a:prstGeom prst="rect">
            <a:avLst/>
          </a:prstGeom>
          <a:noFill/>
        </p:spPr>
        <p:txBody>
          <a:bodyPr wrap="none" lIns="27432" tIns="27432" rIns="27432" bIns="27432" anchor="t">
            <a:spAutoFit/>
          </a:bodyPr>
          <a:lstStyle/>
          <a:p>
            <a:pPr algn="l"/>
            <a:r>
              <a:rPr sz="850" b="0" i="0">
                <a:solidFill>
                  <a:srgbClr val="5D6A79"/>
                </a:solidFill>
                <a:latin typeface="Aptos"/>
              </a:rPr>
              <a:t>VoiceNote  •  Open Source Project Lab  •  B.E. IT  •  Semester VII</a:t>
            </a:r>
          </a:p>
        </p:txBody>
      </p:sp>
      <p:sp>
        <p:nvSpPr>
          <p:cNvPr id="39" name="TextBox 38"/>
          <p:cNvSpPr txBox="1"/>
          <p:nvPr/>
        </p:nvSpPr>
        <p:spPr>
          <a:xfrm>
            <a:off x="10881360" y="6519672"/>
            <a:ext cx="731520" cy="201168"/>
          </a:xfrm>
          <a:prstGeom prst="rect">
            <a:avLst/>
          </a:prstGeom>
          <a:noFill/>
        </p:spPr>
        <p:txBody>
          <a:bodyPr wrap="none" lIns="27432" tIns="27432" rIns="27432" bIns="27432" anchor="t">
            <a:spAutoFit/>
          </a:bodyPr>
          <a:lstStyle/>
          <a:p>
            <a:pPr>
              <a:defRPr sz="1100">
                <a:latin typeface="Segoe UI"/>
              </a:defRPr>
            </a:pPr>
            <a:r>
              <a:t>07 / 17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47472"/>
            <a:ext cx="9875520" cy="502920"/>
          </a:xfrm>
          <a:prstGeom prst="rect">
            <a:avLst/>
          </a:prstGeom>
          <a:noFill/>
        </p:spPr>
        <p:txBody>
          <a:bodyPr wrap="none" lIns="27432" tIns="27432" rIns="27432" bIns="27432" anchor="t">
            <a:spAutoFit/>
          </a:bodyPr>
          <a:lstStyle/>
          <a:p>
            <a:r>
              <a:t>Production Workflows &amp; Real-World Scenarios</a:t>
            </a:r>
          </a:p>
        </p:txBody>
      </p:sp>
      <p:sp>
        <p:nvSpPr>
          <p:cNvPr id="3" name="TextBox 2"/>
          <p:cNvSpPr txBox="1"/>
          <p:nvPr/>
        </p:nvSpPr>
        <p:spPr>
          <a:xfrm>
            <a:off x="585216" y="877824"/>
            <a:ext cx="10424160" cy="384048"/>
          </a:xfrm>
          <a:prstGeom prst="rect">
            <a:avLst/>
          </a:prstGeom>
          <a:noFill/>
        </p:spPr>
        <p:txBody>
          <a:bodyPr wrap="none" lIns="27432" tIns="27432" rIns="27432" bIns="27432" anchor="t">
            <a:spAutoFit/>
          </a:bodyPr>
          <a:lstStyle/>
          <a:p>
            <a:r>
              <a:t>VoiceNote adapts seamlessly across diverse corporate, hybrid, and bilingual environments.</a:t>
            </a:r>
          </a:p>
        </p:txBody>
      </p:sp>
      <p:sp>
        <p:nvSpPr>
          <p:cNvPr id="5" name="TextBox 4"/>
          <p:cNvSpPr txBox="1"/>
          <p:nvPr/>
        </p:nvSpPr>
        <p:spPr>
          <a:xfrm>
            <a:off x="11018520" y="411480"/>
            <a:ext cx="594360" cy="320040"/>
          </a:xfrm>
          <a:prstGeom prst="rect">
            <a:avLst/>
          </a:prstGeom>
          <a:noFill/>
        </p:spPr>
        <p:txBody>
          <a:bodyPr wrap="none" lIns="27432" tIns="27432" rIns="27432" bIns="27432" anchor="t">
            <a:spAutoFit/>
          </a:bodyPr>
          <a:lstStyle/>
          <a:p>
            <a:r>
              <a:t>08</a:t>
            </a:r>
          </a:p>
        </p:txBody>
      </p:sp>
      <p:sp>
        <p:nvSpPr>
          <p:cNvPr id="37" name="TextBox 36"/>
          <p:cNvSpPr txBox="1"/>
          <p:nvPr/>
        </p:nvSpPr>
        <p:spPr>
          <a:xfrm>
            <a:off x="566928" y="6519672"/>
            <a:ext cx="8138160" cy="201168"/>
          </a:xfrm>
          <a:prstGeom prst="rect">
            <a:avLst/>
          </a:prstGeom>
          <a:noFill/>
        </p:spPr>
        <p:txBody>
          <a:bodyPr wrap="none" lIns="27432" tIns="27432" rIns="27432" bIns="27432" anchor="t">
            <a:spAutoFit/>
          </a:bodyPr>
          <a:lstStyle/>
          <a:p>
            <a:pPr algn="l"/>
            <a:r>
              <a:rPr sz="850" b="0" i="0">
                <a:solidFill>
                  <a:srgbClr val="5D6A79"/>
                </a:solidFill>
                <a:latin typeface="Aptos"/>
              </a:rPr>
              <a:t>VoiceNote  •  Open Source Project Lab  •  B.E. IT  •  Semester VII</a:t>
            </a:r>
          </a:p>
        </p:txBody>
      </p:sp>
      <p:sp>
        <p:nvSpPr>
          <p:cNvPr id="38" name="TextBox 37"/>
          <p:cNvSpPr txBox="1"/>
          <p:nvPr/>
        </p:nvSpPr>
        <p:spPr>
          <a:xfrm>
            <a:off x="10881360" y="6519672"/>
            <a:ext cx="731520" cy="201168"/>
          </a:xfrm>
          <a:prstGeom prst="rect">
            <a:avLst/>
          </a:prstGeom>
          <a:noFill/>
        </p:spPr>
        <p:txBody>
          <a:bodyPr wrap="none" lIns="27432" tIns="27432" rIns="27432" bIns="27432" anchor="t">
            <a:spAutoFit/>
          </a:bodyPr>
          <a:lstStyle/>
          <a:p>
            <a:r>
              <a:t>08 / 17</a:t>
            </a:r>
          </a:p>
        </p:txBody>
      </p:sp>
      <p:pic>
        <p:nvPicPr>
          <p:cNvPr id="39" name="Picture 38">
            <a:extLst>
              <a:ext uri="{FF2B5EF4-FFF2-40B4-BE49-F238E27FC236}">
                <a16:creationId xmlns:a16="http://schemas.microsoft.com/office/drawing/2014/main" id="{F1B1DB77-EDA1-FA3A-CC14-8BCB09383743}"/>
              </a:ext>
            </a:extLst>
          </p:cNvPr>
          <p:cNvPicPr>
            <a:picLocks noChangeAspect="1"/>
          </p:cNvPicPr>
          <p:nvPr/>
        </p:nvPicPr>
        <p:blipFill>
          <a:blip r:embed="rId2"/>
          <a:stretch>
            <a:fillRect/>
          </a:stretch>
        </p:blipFill>
        <p:spPr>
          <a:xfrm>
            <a:off x="1097280" y="1463040"/>
            <a:ext cx="9966960" cy="2011680"/>
          </a:xfrm>
          <a:prstGeom prst="rect">
            <a:avLst/>
          </a:prstGeom>
        </p:spPr>
      </p:pic>
      <p:sp>
        <p:nvSpPr>
          <p:cNvPr id="40" name="Rounded Rectangle 39"/>
          <p:cNvSpPr/>
          <p:nvPr/>
        </p:nvSpPr>
        <p:spPr>
          <a:xfrm>
            <a:off x="594360" y="3657600"/>
            <a:ext cx="3566160" cy="2560320"/>
          </a:xfrm>
          <a:prstGeom prst="roundRect">
            <a:avLst/>
          </a:prstGeom>
          <a:solidFill>
            <a:srgbClr val="E7F1FD"/>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31520" y="3794760"/>
            <a:ext cx="3291840" cy="411480"/>
          </a:xfrm>
          <a:prstGeom prst="rect">
            <a:avLst/>
          </a:prstGeom>
          <a:noFill/>
        </p:spPr>
        <p:txBody>
          <a:bodyPr wrap="square" lIns="36576" tIns="36576" rIns="36576" bIns="36576">
            <a:spAutoFit/>
          </a:bodyPr>
          <a:lstStyle/>
          <a:p>
            <a:pPr algn="l">
              <a:defRPr sz="1200" b="1">
                <a:solidFill>
                  <a:srgbClr val="1E1E24"/>
                </a:solidFill>
                <a:latin typeface="Segoe UI"/>
              </a:defRPr>
            </a:pPr>
            <a:r>
              <a:t>Scenario A: Corporate Sprint Standup (English)</a:t>
            </a:r>
          </a:p>
        </p:txBody>
      </p:sp>
      <p:sp>
        <p:nvSpPr>
          <p:cNvPr id="42" name="TextBox 41"/>
          <p:cNvSpPr txBox="1"/>
          <p:nvPr/>
        </p:nvSpPr>
        <p:spPr>
          <a:xfrm>
            <a:off x="731520" y="4251960"/>
            <a:ext cx="3291840" cy="1828800"/>
          </a:xfrm>
          <a:prstGeom prst="rect">
            <a:avLst/>
          </a:prstGeom>
          <a:noFill/>
        </p:spPr>
        <p:txBody>
          <a:bodyPr wrap="square" lIns="36576" tIns="36576" rIns="36576" bIns="36576">
            <a:spAutoFit/>
          </a:bodyPr>
          <a:lstStyle/>
          <a:p>
            <a:pPr algn="l">
              <a:defRPr sz="1000" b="0">
                <a:solidFill>
                  <a:srgbClr val="1E1E24"/>
                </a:solidFill>
                <a:latin typeface="Segoe UI"/>
              </a:defRPr>
            </a:pPr>
            <a:r>
              <a:rPr dirty="0"/>
              <a:t>• Input: Microphone captures fast-paced engineering team updates.</a:t>
            </a:r>
          </a:p>
          <a:p>
            <a:pPr algn="l">
              <a:defRPr sz="1000" b="0">
                <a:solidFill>
                  <a:srgbClr val="1E1E24"/>
                </a:solidFill>
                <a:latin typeface="Segoe UI"/>
              </a:defRPr>
            </a:pPr>
            <a:r>
              <a:rPr dirty="0"/>
              <a:t>• </a:t>
            </a:r>
            <a:r>
              <a:rPr dirty="0" err="1"/>
              <a:t>Diarization</a:t>
            </a:r>
            <a:r>
              <a:rPr dirty="0"/>
              <a:t>: Separates Lead Engineer, QA, and Scrum Master.</a:t>
            </a:r>
          </a:p>
          <a:p>
            <a:pPr algn="l">
              <a:defRPr sz="1000" b="0">
                <a:solidFill>
                  <a:srgbClr val="1E1E24"/>
                </a:solidFill>
                <a:latin typeface="Segoe UI"/>
              </a:defRPr>
            </a:pPr>
            <a:r>
              <a:rPr dirty="0"/>
              <a:t>• Outcome: Structured Jira-ready tasks with assignees and due dates.</a:t>
            </a:r>
          </a:p>
        </p:txBody>
      </p:sp>
      <p:sp>
        <p:nvSpPr>
          <p:cNvPr id="43" name="Rounded Rectangle 42"/>
          <p:cNvSpPr/>
          <p:nvPr/>
        </p:nvSpPr>
        <p:spPr>
          <a:xfrm>
            <a:off x="4297680" y="3657600"/>
            <a:ext cx="3566160" cy="2560320"/>
          </a:xfrm>
          <a:prstGeom prst="roundRect">
            <a:avLst/>
          </a:prstGeom>
          <a:solidFill>
            <a:srgbClr val="E5F7F3"/>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434840" y="3794760"/>
            <a:ext cx="3291840" cy="411480"/>
          </a:xfrm>
          <a:prstGeom prst="rect">
            <a:avLst/>
          </a:prstGeom>
          <a:noFill/>
        </p:spPr>
        <p:txBody>
          <a:bodyPr wrap="square" lIns="36576" tIns="36576" rIns="36576" bIns="36576">
            <a:spAutoFit/>
          </a:bodyPr>
          <a:lstStyle/>
          <a:p>
            <a:pPr algn="l">
              <a:defRPr sz="1200" b="1">
                <a:solidFill>
                  <a:srgbClr val="1E1E24"/>
                </a:solidFill>
                <a:latin typeface="Segoe UI"/>
              </a:defRPr>
            </a:pPr>
            <a:r>
              <a:t>Scenario B: Hybrid Remote Meetings (WASAPI Loopback)</a:t>
            </a:r>
          </a:p>
        </p:txBody>
      </p:sp>
      <p:sp>
        <p:nvSpPr>
          <p:cNvPr id="45" name="TextBox 44"/>
          <p:cNvSpPr txBox="1"/>
          <p:nvPr/>
        </p:nvSpPr>
        <p:spPr>
          <a:xfrm>
            <a:off x="4434840" y="4251960"/>
            <a:ext cx="3291840" cy="1828800"/>
          </a:xfrm>
          <a:prstGeom prst="rect">
            <a:avLst/>
          </a:prstGeom>
          <a:noFill/>
        </p:spPr>
        <p:txBody>
          <a:bodyPr wrap="square" lIns="36576" tIns="36576" rIns="36576" bIns="36576">
            <a:spAutoFit/>
          </a:bodyPr>
          <a:lstStyle/>
          <a:p>
            <a:pPr algn="l">
              <a:defRPr sz="1000" b="0">
                <a:solidFill>
                  <a:srgbClr val="1E1E24"/>
                </a:solidFill>
                <a:latin typeface="Segoe UI"/>
              </a:defRPr>
            </a:pPr>
            <a:r>
              <a:t>• Input: PyAudioWPatch captures internal audio from Zoom/Teams/Meet.</a:t>
            </a:r>
          </a:p>
          <a:p>
            <a:pPr algn="l">
              <a:defRPr sz="1000" b="0">
                <a:solidFill>
                  <a:srgbClr val="1E1E24"/>
                </a:solidFill>
                <a:latin typeface="Segoe UI"/>
              </a:defRPr>
            </a:pPr>
            <a:r>
              <a:t>• Processing: Zero external room echo or distortion.</a:t>
            </a:r>
          </a:p>
          <a:p>
            <a:pPr algn="l">
              <a:defRPr sz="1000" b="0">
                <a:solidFill>
                  <a:srgbClr val="1E1E24"/>
                </a:solidFill>
                <a:latin typeface="Segoe UI"/>
              </a:defRPr>
            </a:pPr>
            <a:r>
              <a:t>• Outcome: Executive meeting minutes, key decisions, and ReportLab PDF.</a:t>
            </a:r>
          </a:p>
        </p:txBody>
      </p:sp>
      <p:sp>
        <p:nvSpPr>
          <p:cNvPr id="46" name="Rounded Rectangle 45"/>
          <p:cNvSpPr/>
          <p:nvPr/>
        </p:nvSpPr>
        <p:spPr>
          <a:xfrm>
            <a:off x="8001000" y="3657600"/>
            <a:ext cx="3566160" cy="2560320"/>
          </a:xfrm>
          <a:prstGeom prst="roundRect">
            <a:avLst/>
          </a:prstGeom>
          <a:solidFill>
            <a:srgbClr val="FDF1E4"/>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138160" y="3794760"/>
            <a:ext cx="3291840" cy="411480"/>
          </a:xfrm>
          <a:prstGeom prst="rect">
            <a:avLst/>
          </a:prstGeom>
          <a:noFill/>
        </p:spPr>
        <p:txBody>
          <a:bodyPr wrap="square" lIns="36576" tIns="36576" rIns="36576" bIns="36576">
            <a:spAutoFit/>
          </a:bodyPr>
          <a:lstStyle/>
          <a:p>
            <a:pPr algn="l">
              <a:defRPr sz="1200" b="1">
                <a:solidFill>
                  <a:srgbClr val="1E1E24"/>
                </a:solidFill>
                <a:latin typeface="Segoe UI"/>
              </a:defRPr>
            </a:pPr>
            <a:r>
              <a:t>Scenario C: Multilingual Regional Discussions (Marathi)</a:t>
            </a:r>
          </a:p>
        </p:txBody>
      </p:sp>
      <p:sp>
        <p:nvSpPr>
          <p:cNvPr id="48" name="TextBox 47"/>
          <p:cNvSpPr txBox="1"/>
          <p:nvPr/>
        </p:nvSpPr>
        <p:spPr>
          <a:xfrm>
            <a:off x="8138160" y="4251960"/>
            <a:ext cx="3291840" cy="1828800"/>
          </a:xfrm>
          <a:prstGeom prst="rect">
            <a:avLst/>
          </a:prstGeom>
          <a:noFill/>
        </p:spPr>
        <p:txBody>
          <a:bodyPr wrap="square" lIns="36576" tIns="36576" rIns="36576" bIns="36576">
            <a:spAutoFit/>
          </a:bodyPr>
          <a:lstStyle/>
          <a:p>
            <a:pPr algn="l">
              <a:defRPr sz="1000" b="0">
                <a:solidFill>
                  <a:srgbClr val="1E1E24"/>
                </a:solidFill>
                <a:latin typeface="Segoe UI"/>
              </a:defRPr>
            </a:pPr>
            <a:r>
              <a:t>• Input: Bilingual team meeting mixing Marathi, Hindi, and English.</a:t>
            </a:r>
          </a:p>
          <a:p>
            <a:pPr algn="l">
              <a:defRPr sz="1000" b="0">
                <a:solidFill>
                  <a:srgbClr val="1E1E24"/>
                </a:solidFill>
                <a:latin typeface="Segoe UI"/>
              </a:defRPr>
            </a:pPr>
            <a:r>
              <a:t>• Processing: TranscriptCorrector fixes Devanagari grammar &amp; ₹ amounts.</a:t>
            </a:r>
          </a:p>
          <a:p>
            <a:pPr algn="l">
              <a:defRPr sz="1000" b="0">
                <a:solidFill>
                  <a:srgbClr val="1E1E24"/>
                </a:solidFill>
                <a:latin typeface="Segoe UI"/>
              </a:defRPr>
            </a:pPr>
            <a:r>
              <a:t>• Outcome: Accurate vernacular transcripts and searchable action items.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E62B89-740B-BA57-2617-2A0138CE8939}"/>
              </a:ext>
            </a:extLst>
          </p:cNvPr>
          <p:cNvPicPr>
            <a:picLocks noChangeAspect="1"/>
          </p:cNvPicPr>
          <p:nvPr/>
        </p:nvPicPr>
        <p:blipFill>
          <a:blip r:embed="rId2"/>
          <a:stretch>
            <a:fillRect/>
          </a:stretch>
        </p:blipFill>
        <p:spPr>
          <a:xfrm>
            <a:off x="594360" y="1463040"/>
            <a:ext cx="7315200" cy="4800600"/>
          </a:xfrm>
          <a:prstGeom prst="rect">
            <a:avLst/>
          </a:prstGeom>
        </p:spPr>
      </p:pic>
      <p:sp>
        <p:nvSpPr>
          <p:cNvPr id="4" name="TextBox 3"/>
          <p:cNvSpPr txBox="1"/>
          <p:nvPr/>
        </p:nvSpPr>
        <p:spPr>
          <a:xfrm>
            <a:off x="566928" y="347472"/>
            <a:ext cx="9875520" cy="502920"/>
          </a:xfrm>
          <a:prstGeom prst="rect">
            <a:avLst/>
          </a:prstGeom>
          <a:noFill/>
        </p:spPr>
        <p:txBody>
          <a:bodyPr wrap="square" lIns="36576" tIns="36576" rIns="36576" bIns="36576">
            <a:spAutoFit/>
          </a:bodyPr>
          <a:lstStyle/>
          <a:p>
            <a:pPr algn="l">
              <a:defRPr sz="2400" b="1">
                <a:solidFill>
                  <a:srgbClr val="1E1E24"/>
                </a:solidFill>
                <a:latin typeface="Segoe UI"/>
              </a:defRPr>
            </a:pPr>
            <a:r>
              <a:t>Home Dashboard &amp; Live Audio Calibration</a:t>
            </a:r>
          </a:p>
        </p:txBody>
      </p:sp>
      <p:sp>
        <p:nvSpPr>
          <p:cNvPr id="5" name="TextBox 4"/>
          <p:cNvSpPr txBox="1"/>
          <p:nvPr/>
        </p:nvSpPr>
        <p:spPr>
          <a:xfrm>
            <a:off x="585216" y="877824"/>
            <a:ext cx="10424160" cy="384048"/>
          </a:xfrm>
          <a:prstGeom prst="rect">
            <a:avLst/>
          </a:prstGeom>
          <a:noFill/>
        </p:spPr>
        <p:txBody>
          <a:bodyPr wrap="square" lIns="36576" tIns="36576" rIns="36576" bIns="36576">
            <a:spAutoFit/>
          </a:bodyPr>
          <a:lstStyle/>
          <a:p>
            <a:pPr algn="l">
              <a:defRPr sz="1200" b="0">
                <a:solidFill>
                  <a:srgbClr val="555560"/>
                </a:solidFill>
                <a:latin typeface="Segoe UI"/>
              </a:defRPr>
            </a:pPr>
            <a:r>
              <a:t>Dual-source audio capture, real-time dBFS VU meter, and instant session statistics.</a:t>
            </a:r>
          </a:p>
        </p:txBody>
      </p:sp>
      <p:sp>
        <p:nvSpPr>
          <p:cNvPr id="6" name="Rectangle 5"/>
          <p:cNvSpPr/>
          <p:nvPr/>
        </p:nvSpPr>
        <p:spPr>
          <a:xfrm>
            <a:off x="566928" y="1261872"/>
            <a:ext cx="960120" cy="54864"/>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18520" y="411480"/>
            <a:ext cx="594360" cy="320040"/>
          </a:xfrm>
          <a:prstGeom prst="rect">
            <a:avLst/>
          </a:prstGeom>
          <a:noFill/>
        </p:spPr>
        <p:txBody>
          <a:bodyPr wrap="square" lIns="36576" tIns="36576" rIns="36576" bIns="36576">
            <a:spAutoFit/>
          </a:bodyPr>
          <a:lstStyle/>
          <a:p>
            <a:pPr algn="r">
              <a:defRPr sz="1800" b="1">
                <a:solidFill>
                  <a:srgbClr val="27A6BE"/>
                </a:solidFill>
                <a:latin typeface="Segoe UI"/>
              </a:defRPr>
            </a:pPr>
            <a:r>
              <a:t>10</a:t>
            </a:r>
          </a:p>
        </p:txBody>
      </p:sp>
      <p:sp>
        <p:nvSpPr>
          <p:cNvPr id="8" name="Rounded Rectangle 7"/>
          <p:cNvSpPr/>
          <p:nvPr/>
        </p:nvSpPr>
        <p:spPr>
          <a:xfrm>
            <a:off x="8092440" y="1463040"/>
            <a:ext cx="3520440" cy="4800600"/>
          </a:xfrm>
          <a:prstGeom prst="roundRect">
            <a:avLst/>
          </a:prstGeom>
          <a:solidFill>
            <a:srgbClr val="FFFFFF"/>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75320" y="1645920"/>
            <a:ext cx="2011680" cy="274320"/>
          </a:xfrm>
          <a:prstGeom prst="round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900" b="1">
                <a:solidFill>
                  <a:srgbClr val="FFFFFF"/>
                </a:solidFill>
                <a:latin typeface="Segoe UI"/>
              </a:defRPr>
            </a:pPr>
            <a:r>
              <a:t>PRODUCTION SCREEN 01</a:t>
            </a:r>
          </a:p>
        </p:txBody>
      </p:sp>
      <p:sp>
        <p:nvSpPr>
          <p:cNvPr id="10" name="TextBox 9"/>
          <p:cNvSpPr txBox="1"/>
          <p:nvPr/>
        </p:nvSpPr>
        <p:spPr>
          <a:xfrm>
            <a:off x="8275320" y="205740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Dual-Source Audio Switching</a:t>
            </a:r>
          </a:p>
        </p:txBody>
      </p:sp>
      <p:sp>
        <p:nvSpPr>
          <p:cNvPr id="11" name="TextBox 10"/>
          <p:cNvSpPr txBox="1"/>
          <p:nvPr/>
        </p:nvSpPr>
        <p:spPr>
          <a:xfrm>
            <a:off x="8275320" y="231343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Seamlessly toggle between physical Microphone, WASAPI System Loopback (Teams/Zoom/Meet), or Both simultaneously.</a:t>
            </a:r>
          </a:p>
        </p:txBody>
      </p:sp>
      <p:sp>
        <p:nvSpPr>
          <p:cNvPr id="12" name="TextBox 11"/>
          <p:cNvSpPr txBox="1"/>
          <p:nvPr/>
        </p:nvSpPr>
        <p:spPr>
          <a:xfrm>
            <a:off x="8275320" y="329184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Real-Time dBFS &amp; VU Meter</a:t>
            </a:r>
          </a:p>
        </p:txBody>
      </p:sp>
      <p:sp>
        <p:nvSpPr>
          <p:cNvPr id="13" name="TextBox 12"/>
          <p:cNvSpPr txBox="1"/>
          <p:nvPr/>
        </p:nvSpPr>
        <p:spPr>
          <a:xfrm>
            <a:off x="8275320" y="354787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Precision audio calibration (-60 dBFS to 0 dBFS) with 60 FPS animated QPainter WaveformWidget visualizer.</a:t>
            </a:r>
          </a:p>
        </p:txBody>
      </p:sp>
      <p:sp>
        <p:nvSpPr>
          <p:cNvPr id="14" name="TextBox 13"/>
          <p:cNvSpPr txBox="1"/>
          <p:nvPr/>
        </p:nvSpPr>
        <p:spPr>
          <a:xfrm>
            <a:off x="8275320" y="452628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Live Session Telemetry</a:t>
            </a:r>
          </a:p>
        </p:txBody>
      </p:sp>
      <p:sp>
        <p:nvSpPr>
          <p:cNvPr id="15" name="TextBox 14"/>
          <p:cNvSpPr txBox="1"/>
          <p:nvPr/>
        </p:nvSpPr>
        <p:spPr>
          <a:xfrm>
            <a:off x="8275320" y="478231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Instant productivity counters displaying total notes (24), recorded duration (4h 32m), and 100% offline status.</a:t>
            </a:r>
          </a:p>
        </p:txBody>
      </p:sp>
      <p:sp>
        <p:nvSpPr>
          <p:cNvPr id="16" name="TextBox 15"/>
          <p:cNvSpPr txBox="1"/>
          <p:nvPr/>
        </p:nvSpPr>
        <p:spPr>
          <a:xfrm>
            <a:off x="566928" y="6519672"/>
            <a:ext cx="8138160" cy="201168"/>
          </a:xfrm>
          <a:prstGeom prst="rect">
            <a:avLst/>
          </a:prstGeom>
          <a:noFill/>
        </p:spPr>
        <p:txBody>
          <a:bodyPr wrap="square" lIns="36576" tIns="36576" rIns="36576" bIns="36576">
            <a:spAutoFit/>
          </a:bodyPr>
          <a:lstStyle/>
          <a:p>
            <a:pPr algn="l">
              <a:defRPr sz="900" b="0">
                <a:solidFill>
                  <a:srgbClr val="555560"/>
                </a:solidFill>
                <a:latin typeface="Segoe UI"/>
              </a:defRPr>
            </a:pPr>
            <a:r>
              <a:t>VoiceNote  •  Open Source Project Lab  •  B.E. IT  •  Semester VII</a:t>
            </a:r>
          </a:p>
        </p:txBody>
      </p:sp>
      <p:sp>
        <p:nvSpPr>
          <p:cNvPr id="17" name="TextBox 16"/>
          <p:cNvSpPr txBox="1"/>
          <p:nvPr/>
        </p:nvSpPr>
        <p:spPr>
          <a:xfrm>
            <a:off x="10789920" y="6519672"/>
            <a:ext cx="822960" cy="201168"/>
          </a:xfrm>
          <a:prstGeom prst="rect">
            <a:avLst/>
          </a:prstGeom>
          <a:noFill/>
        </p:spPr>
        <p:txBody>
          <a:bodyPr wrap="square" lIns="36576" tIns="36576" rIns="36576" bIns="36576">
            <a:spAutoFit/>
          </a:bodyPr>
          <a:lstStyle/>
          <a:p>
            <a:pPr algn="r">
              <a:defRPr sz="900" b="0">
                <a:solidFill>
                  <a:srgbClr val="555560"/>
                </a:solidFill>
                <a:latin typeface="Segoe UI"/>
              </a:defRPr>
            </a:pPr>
            <a:r>
              <a:t>10 / 17</a:t>
            </a:r>
          </a:p>
        </p:txBody>
      </p:sp>
    </p:spTree>
    <p:extLst>
      <p:ext uri="{BB962C8B-B14F-4D97-AF65-F5344CB8AC3E}">
        <p14:creationId xmlns:p14="http://schemas.microsoft.com/office/powerpoint/2010/main" val="1460097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559518-1CD5-7E10-284E-D01789936873}"/>
              </a:ext>
            </a:extLst>
          </p:cNvPr>
          <p:cNvPicPr>
            <a:picLocks noChangeAspect="1"/>
          </p:cNvPicPr>
          <p:nvPr/>
        </p:nvPicPr>
        <p:blipFill>
          <a:blip r:embed="rId2"/>
          <a:stretch>
            <a:fillRect/>
          </a:stretch>
        </p:blipFill>
        <p:spPr>
          <a:xfrm>
            <a:off x="594360" y="1463040"/>
            <a:ext cx="7315200" cy="4800600"/>
          </a:xfrm>
          <a:prstGeom prst="rect">
            <a:avLst/>
          </a:prstGeom>
        </p:spPr>
      </p:pic>
      <p:sp>
        <p:nvSpPr>
          <p:cNvPr id="4" name="TextBox 3"/>
          <p:cNvSpPr txBox="1"/>
          <p:nvPr/>
        </p:nvSpPr>
        <p:spPr>
          <a:xfrm>
            <a:off x="566928" y="347472"/>
            <a:ext cx="9875520" cy="502920"/>
          </a:xfrm>
          <a:prstGeom prst="rect">
            <a:avLst/>
          </a:prstGeom>
          <a:noFill/>
        </p:spPr>
        <p:txBody>
          <a:bodyPr wrap="square" lIns="36576" tIns="36576" rIns="36576" bIns="36576">
            <a:spAutoFit/>
          </a:bodyPr>
          <a:lstStyle/>
          <a:p>
            <a:pPr algn="l">
              <a:defRPr sz="2400" b="1">
                <a:solidFill>
                  <a:srgbClr val="1E1E24"/>
                </a:solidFill>
                <a:latin typeface="Segoe UI"/>
              </a:defRPr>
            </a:pPr>
            <a:r>
              <a:t>Multi-Speaker Diarized Transcripts</a:t>
            </a:r>
          </a:p>
        </p:txBody>
      </p:sp>
      <p:sp>
        <p:nvSpPr>
          <p:cNvPr id="5" name="TextBox 4"/>
          <p:cNvSpPr txBox="1"/>
          <p:nvPr/>
        </p:nvSpPr>
        <p:spPr>
          <a:xfrm>
            <a:off x="585216" y="877824"/>
            <a:ext cx="10424160" cy="384048"/>
          </a:xfrm>
          <a:prstGeom prst="rect">
            <a:avLst/>
          </a:prstGeom>
          <a:noFill/>
        </p:spPr>
        <p:txBody>
          <a:bodyPr wrap="square" lIns="36576" tIns="36576" rIns="36576" bIns="36576">
            <a:spAutoFit/>
          </a:bodyPr>
          <a:lstStyle/>
          <a:p>
            <a:pPr algn="l">
              <a:defRPr sz="1200" b="0">
                <a:solidFill>
                  <a:srgbClr val="555560"/>
                </a:solidFill>
                <a:latin typeface="Segoe UI"/>
              </a:defRPr>
            </a:pPr>
            <a:r>
              <a:t>Acoustic turn segmentation, color-coded speaker bubbles, and millisecond timestamps.</a:t>
            </a:r>
          </a:p>
        </p:txBody>
      </p:sp>
      <p:sp>
        <p:nvSpPr>
          <p:cNvPr id="6" name="Rectangle 5"/>
          <p:cNvSpPr/>
          <p:nvPr/>
        </p:nvSpPr>
        <p:spPr>
          <a:xfrm>
            <a:off x="566928" y="1261872"/>
            <a:ext cx="960120" cy="54864"/>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18520" y="411480"/>
            <a:ext cx="594360" cy="320040"/>
          </a:xfrm>
          <a:prstGeom prst="rect">
            <a:avLst/>
          </a:prstGeom>
          <a:noFill/>
        </p:spPr>
        <p:txBody>
          <a:bodyPr wrap="square" lIns="36576" tIns="36576" rIns="36576" bIns="36576">
            <a:spAutoFit/>
          </a:bodyPr>
          <a:lstStyle/>
          <a:p>
            <a:pPr algn="r">
              <a:defRPr sz="1800" b="1">
                <a:solidFill>
                  <a:srgbClr val="27A6BE"/>
                </a:solidFill>
                <a:latin typeface="Segoe UI"/>
              </a:defRPr>
            </a:pPr>
            <a:r>
              <a:t>11</a:t>
            </a:r>
          </a:p>
        </p:txBody>
      </p:sp>
      <p:sp>
        <p:nvSpPr>
          <p:cNvPr id="8" name="Rounded Rectangle 7"/>
          <p:cNvSpPr/>
          <p:nvPr/>
        </p:nvSpPr>
        <p:spPr>
          <a:xfrm>
            <a:off x="8092440" y="1463040"/>
            <a:ext cx="3520440" cy="4800600"/>
          </a:xfrm>
          <a:prstGeom prst="roundRect">
            <a:avLst/>
          </a:prstGeom>
          <a:solidFill>
            <a:srgbClr val="FFFFFF"/>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75320" y="1645920"/>
            <a:ext cx="2011680" cy="274320"/>
          </a:xfrm>
          <a:prstGeom prst="round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900" b="1">
                <a:solidFill>
                  <a:srgbClr val="FFFFFF"/>
                </a:solidFill>
                <a:latin typeface="Segoe UI"/>
              </a:defRPr>
            </a:pPr>
            <a:r>
              <a:t>PRODUCTION SCREEN 02</a:t>
            </a:r>
          </a:p>
        </p:txBody>
      </p:sp>
      <p:sp>
        <p:nvSpPr>
          <p:cNvPr id="10" name="TextBox 9"/>
          <p:cNvSpPr txBox="1"/>
          <p:nvPr/>
        </p:nvSpPr>
        <p:spPr>
          <a:xfrm>
            <a:off x="8275320" y="205740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Acoustic Speaker Diarization</a:t>
            </a:r>
          </a:p>
        </p:txBody>
      </p:sp>
      <p:sp>
        <p:nvSpPr>
          <p:cNvPr id="11" name="TextBox 10"/>
          <p:cNvSpPr txBox="1"/>
          <p:nvPr/>
        </p:nvSpPr>
        <p:spPr>
          <a:xfrm>
            <a:off x="8275320" y="231343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Intelligent turn segmentation automatically attributes speech to distinct speakers (Samar, Lead Engineer, QA Lead).</a:t>
            </a:r>
          </a:p>
        </p:txBody>
      </p:sp>
      <p:sp>
        <p:nvSpPr>
          <p:cNvPr id="12" name="TextBox 11"/>
          <p:cNvSpPr txBox="1"/>
          <p:nvPr/>
        </p:nvSpPr>
        <p:spPr>
          <a:xfrm>
            <a:off x="8275320" y="329184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Millisecond Timestamps</a:t>
            </a:r>
          </a:p>
        </p:txBody>
      </p:sp>
      <p:sp>
        <p:nvSpPr>
          <p:cNvPr id="13" name="TextBox 12"/>
          <p:cNvSpPr txBox="1"/>
          <p:nvPr/>
        </p:nvSpPr>
        <p:spPr>
          <a:xfrm>
            <a:off x="8275320" y="354787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Every dialogue turn is marked with start/end timestamps enabling instant one-click playback jumping.</a:t>
            </a:r>
          </a:p>
        </p:txBody>
      </p:sp>
      <p:sp>
        <p:nvSpPr>
          <p:cNvPr id="14" name="TextBox 13"/>
          <p:cNvSpPr txBox="1"/>
          <p:nvPr/>
        </p:nvSpPr>
        <p:spPr>
          <a:xfrm>
            <a:off x="8275320" y="452628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Indic Devanagari Accuracy</a:t>
            </a:r>
          </a:p>
        </p:txBody>
      </p:sp>
      <p:sp>
        <p:nvSpPr>
          <p:cNvPr id="15" name="TextBox 14"/>
          <p:cNvSpPr txBox="1"/>
          <p:nvPr/>
        </p:nvSpPr>
        <p:spPr>
          <a:xfrm>
            <a:off x="8275320" y="478231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TranscriptCorrector ensures Marathi and Hindi conversations retain proper grammar and currency symbols (₹).</a:t>
            </a:r>
          </a:p>
        </p:txBody>
      </p:sp>
      <p:sp>
        <p:nvSpPr>
          <p:cNvPr id="16" name="TextBox 15"/>
          <p:cNvSpPr txBox="1"/>
          <p:nvPr/>
        </p:nvSpPr>
        <p:spPr>
          <a:xfrm>
            <a:off x="566928" y="6519672"/>
            <a:ext cx="8138160" cy="201168"/>
          </a:xfrm>
          <a:prstGeom prst="rect">
            <a:avLst/>
          </a:prstGeom>
          <a:noFill/>
        </p:spPr>
        <p:txBody>
          <a:bodyPr wrap="square" lIns="36576" tIns="36576" rIns="36576" bIns="36576">
            <a:spAutoFit/>
          </a:bodyPr>
          <a:lstStyle/>
          <a:p>
            <a:pPr algn="l">
              <a:defRPr sz="900" b="0">
                <a:solidFill>
                  <a:srgbClr val="555560"/>
                </a:solidFill>
                <a:latin typeface="Segoe UI"/>
              </a:defRPr>
            </a:pPr>
            <a:r>
              <a:t>VoiceNote  •  Open Source Project Lab  •  B.E. IT  •  Semester VII</a:t>
            </a:r>
          </a:p>
        </p:txBody>
      </p:sp>
      <p:sp>
        <p:nvSpPr>
          <p:cNvPr id="17" name="TextBox 16"/>
          <p:cNvSpPr txBox="1"/>
          <p:nvPr/>
        </p:nvSpPr>
        <p:spPr>
          <a:xfrm>
            <a:off x="10789920" y="6519672"/>
            <a:ext cx="822960" cy="201168"/>
          </a:xfrm>
          <a:prstGeom prst="rect">
            <a:avLst/>
          </a:prstGeom>
          <a:noFill/>
        </p:spPr>
        <p:txBody>
          <a:bodyPr wrap="square" lIns="36576" tIns="36576" rIns="36576" bIns="36576">
            <a:spAutoFit/>
          </a:bodyPr>
          <a:lstStyle/>
          <a:p>
            <a:pPr algn="r">
              <a:defRPr sz="900" b="0">
                <a:solidFill>
                  <a:srgbClr val="555560"/>
                </a:solidFill>
                <a:latin typeface="Segoe UI"/>
              </a:defRPr>
            </a:pPr>
            <a:r>
              <a:t>11 / 17</a:t>
            </a:r>
          </a:p>
        </p:txBody>
      </p:sp>
    </p:spTree>
    <p:extLst>
      <p:ext uri="{BB962C8B-B14F-4D97-AF65-F5344CB8AC3E}">
        <p14:creationId xmlns:p14="http://schemas.microsoft.com/office/powerpoint/2010/main" val="785610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3046C6-AFE1-D8AF-6E22-17A3ABD69D48}"/>
              </a:ext>
            </a:extLst>
          </p:cNvPr>
          <p:cNvPicPr>
            <a:picLocks noChangeAspect="1"/>
          </p:cNvPicPr>
          <p:nvPr/>
        </p:nvPicPr>
        <p:blipFill>
          <a:blip r:embed="rId2"/>
          <a:stretch>
            <a:fillRect/>
          </a:stretch>
        </p:blipFill>
        <p:spPr>
          <a:xfrm>
            <a:off x="594360" y="1463040"/>
            <a:ext cx="7315200" cy="4800600"/>
          </a:xfrm>
          <a:prstGeom prst="rect">
            <a:avLst/>
          </a:prstGeom>
        </p:spPr>
      </p:pic>
      <p:sp>
        <p:nvSpPr>
          <p:cNvPr id="4" name="TextBox 3"/>
          <p:cNvSpPr txBox="1"/>
          <p:nvPr/>
        </p:nvSpPr>
        <p:spPr>
          <a:xfrm>
            <a:off x="566928" y="347472"/>
            <a:ext cx="9875520" cy="502920"/>
          </a:xfrm>
          <a:prstGeom prst="rect">
            <a:avLst/>
          </a:prstGeom>
          <a:noFill/>
        </p:spPr>
        <p:txBody>
          <a:bodyPr wrap="square" lIns="36576" tIns="36576" rIns="36576" bIns="36576">
            <a:spAutoFit/>
          </a:bodyPr>
          <a:lstStyle/>
          <a:p>
            <a:pPr algn="l">
              <a:defRPr sz="2400" b="1">
                <a:solidFill>
                  <a:srgbClr val="1E1E24"/>
                </a:solidFill>
                <a:latin typeface="Segoe UI"/>
              </a:defRPr>
            </a:pPr>
            <a:r>
              <a:t>AI Executive Summary &amp; Action Board</a:t>
            </a:r>
          </a:p>
        </p:txBody>
      </p:sp>
      <p:sp>
        <p:nvSpPr>
          <p:cNvPr id="5" name="TextBox 4"/>
          <p:cNvSpPr txBox="1"/>
          <p:nvPr/>
        </p:nvSpPr>
        <p:spPr>
          <a:xfrm>
            <a:off x="585216" y="877824"/>
            <a:ext cx="10424160" cy="384048"/>
          </a:xfrm>
          <a:prstGeom prst="rect">
            <a:avLst/>
          </a:prstGeom>
          <a:noFill/>
        </p:spPr>
        <p:txBody>
          <a:bodyPr wrap="square" lIns="36576" tIns="36576" rIns="36576" bIns="36576">
            <a:spAutoFit/>
          </a:bodyPr>
          <a:lstStyle/>
          <a:p>
            <a:pPr algn="l">
              <a:defRPr sz="1200" b="0">
                <a:solidFill>
                  <a:srgbClr val="555560"/>
                </a:solidFill>
                <a:latin typeface="Segoe UI"/>
              </a:defRPr>
            </a:pPr>
            <a:r>
              <a:t>Gemini 3.8 Flash structured synthesis adhering to validated Pydantic JSON schemas.</a:t>
            </a:r>
          </a:p>
        </p:txBody>
      </p:sp>
      <p:sp>
        <p:nvSpPr>
          <p:cNvPr id="6" name="Rectangle 5"/>
          <p:cNvSpPr/>
          <p:nvPr/>
        </p:nvSpPr>
        <p:spPr>
          <a:xfrm>
            <a:off x="566928" y="1261872"/>
            <a:ext cx="960120" cy="54864"/>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18520" y="411480"/>
            <a:ext cx="594360" cy="320040"/>
          </a:xfrm>
          <a:prstGeom prst="rect">
            <a:avLst/>
          </a:prstGeom>
          <a:noFill/>
        </p:spPr>
        <p:txBody>
          <a:bodyPr wrap="square" lIns="36576" tIns="36576" rIns="36576" bIns="36576">
            <a:spAutoFit/>
          </a:bodyPr>
          <a:lstStyle/>
          <a:p>
            <a:pPr algn="r">
              <a:defRPr sz="1800" b="1">
                <a:solidFill>
                  <a:srgbClr val="27A6BE"/>
                </a:solidFill>
                <a:latin typeface="Segoe UI"/>
              </a:defRPr>
            </a:pPr>
            <a:r>
              <a:t>12</a:t>
            </a:r>
          </a:p>
        </p:txBody>
      </p:sp>
      <p:sp>
        <p:nvSpPr>
          <p:cNvPr id="8" name="Rounded Rectangle 7"/>
          <p:cNvSpPr/>
          <p:nvPr/>
        </p:nvSpPr>
        <p:spPr>
          <a:xfrm>
            <a:off x="8092440" y="1463040"/>
            <a:ext cx="3520440" cy="4800600"/>
          </a:xfrm>
          <a:prstGeom prst="roundRect">
            <a:avLst/>
          </a:prstGeom>
          <a:solidFill>
            <a:srgbClr val="FFFFFF"/>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75320" y="1645920"/>
            <a:ext cx="2011680" cy="274320"/>
          </a:xfrm>
          <a:prstGeom prst="round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900" b="1">
                <a:solidFill>
                  <a:srgbClr val="FFFFFF"/>
                </a:solidFill>
                <a:latin typeface="Segoe UI"/>
              </a:defRPr>
            </a:pPr>
            <a:r>
              <a:t>PRODUCTION SCREEN 03</a:t>
            </a:r>
          </a:p>
        </p:txBody>
      </p:sp>
      <p:sp>
        <p:nvSpPr>
          <p:cNvPr id="10" name="TextBox 9"/>
          <p:cNvSpPr txBox="1"/>
          <p:nvPr/>
        </p:nvSpPr>
        <p:spPr>
          <a:xfrm>
            <a:off x="8275320" y="205740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Executive Narrative Synthesis</a:t>
            </a:r>
          </a:p>
        </p:txBody>
      </p:sp>
      <p:sp>
        <p:nvSpPr>
          <p:cNvPr id="11" name="TextBox 10"/>
          <p:cNvSpPr txBox="1"/>
          <p:nvPr/>
        </p:nvSpPr>
        <p:spPr>
          <a:xfrm>
            <a:off x="8275320" y="231343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Extracts high-level summaries, key technical decisions, and strategic takeaways automatically.</a:t>
            </a:r>
          </a:p>
        </p:txBody>
      </p:sp>
      <p:sp>
        <p:nvSpPr>
          <p:cNvPr id="12" name="TextBox 11"/>
          <p:cNvSpPr txBox="1"/>
          <p:nvPr/>
        </p:nvSpPr>
        <p:spPr>
          <a:xfrm>
            <a:off x="8275320" y="329184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Prioritized Action Board</a:t>
            </a:r>
          </a:p>
        </p:txBody>
      </p:sp>
      <p:sp>
        <p:nvSpPr>
          <p:cNvPr id="13" name="TextBox 12"/>
          <p:cNvSpPr txBox="1"/>
          <p:nvPr/>
        </p:nvSpPr>
        <p:spPr>
          <a:xfrm>
            <a:off x="8275320" y="354787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Identifies deliverables tagged with urgency pill badges (HIGH, MEDIUM, LOW), assignees, and due dates.</a:t>
            </a:r>
          </a:p>
        </p:txBody>
      </p:sp>
      <p:sp>
        <p:nvSpPr>
          <p:cNvPr id="14" name="TextBox 13"/>
          <p:cNvSpPr txBox="1"/>
          <p:nvPr/>
        </p:nvSpPr>
        <p:spPr>
          <a:xfrm>
            <a:off x="8275320" y="452628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Interactive Task Tracking</a:t>
            </a:r>
          </a:p>
        </p:txBody>
      </p:sp>
      <p:sp>
        <p:nvSpPr>
          <p:cNvPr id="15" name="TextBox 14"/>
          <p:cNvSpPr txBox="1"/>
          <p:nvPr/>
        </p:nvSpPr>
        <p:spPr>
          <a:xfrm>
            <a:off x="8275320" y="478231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Interactive checkbox completion velocity tracking (e.g., 2 / 5 Completed) stored in PostgreSQL.</a:t>
            </a:r>
          </a:p>
        </p:txBody>
      </p:sp>
      <p:sp>
        <p:nvSpPr>
          <p:cNvPr id="16" name="TextBox 15"/>
          <p:cNvSpPr txBox="1"/>
          <p:nvPr/>
        </p:nvSpPr>
        <p:spPr>
          <a:xfrm>
            <a:off x="566928" y="6519672"/>
            <a:ext cx="8138160" cy="201168"/>
          </a:xfrm>
          <a:prstGeom prst="rect">
            <a:avLst/>
          </a:prstGeom>
          <a:noFill/>
        </p:spPr>
        <p:txBody>
          <a:bodyPr wrap="square" lIns="36576" tIns="36576" rIns="36576" bIns="36576">
            <a:spAutoFit/>
          </a:bodyPr>
          <a:lstStyle/>
          <a:p>
            <a:pPr algn="l">
              <a:defRPr sz="900" b="0">
                <a:solidFill>
                  <a:srgbClr val="555560"/>
                </a:solidFill>
                <a:latin typeface="Segoe UI"/>
              </a:defRPr>
            </a:pPr>
            <a:r>
              <a:t>VoiceNote  •  Open Source Project Lab  •  B.E. IT  •  Semester VII</a:t>
            </a:r>
          </a:p>
        </p:txBody>
      </p:sp>
      <p:sp>
        <p:nvSpPr>
          <p:cNvPr id="17" name="TextBox 16"/>
          <p:cNvSpPr txBox="1"/>
          <p:nvPr/>
        </p:nvSpPr>
        <p:spPr>
          <a:xfrm>
            <a:off x="10789920" y="6519672"/>
            <a:ext cx="822960" cy="201168"/>
          </a:xfrm>
          <a:prstGeom prst="rect">
            <a:avLst/>
          </a:prstGeom>
          <a:noFill/>
        </p:spPr>
        <p:txBody>
          <a:bodyPr wrap="square" lIns="36576" tIns="36576" rIns="36576" bIns="36576">
            <a:spAutoFit/>
          </a:bodyPr>
          <a:lstStyle/>
          <a:p>
            <a:pPr algn="r">
              <a:defRPr sz="900" b="0">
                <a:solidFill>
                  <a:srgbClr val="555560"/>
                </a:solidFill>
                <a:latin typeface="Segoe UI"/>
              </a:defRPr>
            </a:pPr>
            <a:r>
              <a:t>12 / 17</a:t>
            </a:r>
          </a:p>
        </p:txBody>
      </p:sp>
    </p:spTree>
    <p:extLst>
      <p:ext uri="{BB962C8B-B14F-4D97-AF65-F5344CB8AC3E}">
        <p14:creationId xmlns:p14="http://schemas.microsoft.com/office/powerpoint/2010/main" val="1195342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13360F-E0AF-6D68-73B9-484E477FEC9D}"/>
              </a:ext>
            </a:extLst>
          </p:cNvPr>
          <p:cNvPicPr>
            <a:picLocks noChangeAspect="1"/>
          </p:cNvPicPr>
          <p:nvPr/>
        </p:nvPicPr>
        <p:blipFill>
          <a:blip r:embed="rId2"/>
          <a:stretch>
            <a:fillRect/>
          </a:stretch>
        </p:blipFill>
        <p:spPr>
          <a:xfrm>
            <a:off x="594360" y="1463040"/>
            <a:ext cx="7315200" cy="4800600"/>
          </a:xfrm>
          <a:prstGeom prst="rect">
            <a:avLst/>
          </a:prstGeom>
        </p:spPr>
      </p:pic>
      <p:sp>
        <p:nvSpPr>
          <p:cNvPr id="5" name="TextBox 4"/>
          <p:cNvSpPr txBox="1"/>
          <p:nvPr/>
        </p:nvSpPr>
        <p:spPr>
          <a:xfrm>
            <a:off x="566928" y="347472"/>
            <a:ext cx="9875520" cy="502920"/>
          </a:xfrm>
          <a:prstGeom prst="rect">
            <a:avLst/>
          </a:prstGeom>
          <a:noFill/>
        </p:spPr>
        <p:txBody>
          <a:bodyPr wrap="square" lIns="36576" tIns="36576" rIns="36576" bIns="36576">
            <a:spAutoFit/>
          </a:bodyPr>
          <a:lstStyle/>
          <a:p>
            <a:pPr algn="l">
              <a:defRPr sz="2400" b="1">
                <a:solidFill>
                  <a:srgbClr val="1E1E24"/>
                </a:solidFill>
                <a:latin typeface="Segoe UI"/>
              </a:defRPr>
            </a:pPr>
            <a:r>
              <a:t>ChromaDB Sub-Second Semantic Search</a:t>
            </a:r>
          </a:p>
        </p:txBody>
      </p:sp>
      <p:sp>
        <p:nvSpPr>
          <p:cNvPr id="6" name="TextBox 5"/>
          <p:cNvSpPr txBox="1"/>
          <p:nvPr/>
        </p:nvSpPr>
        <p:spPr>
          <a:xfrm>
            <a:off x="585216" y="877824"/>
            <a:ext cx="10424160" cy="384048"/>
          </a:xfrm>
          <a:prstGeom prst="rect">
            <a:avLst/>
          </a:prstGeom>
          <a:noFill/>
        </p:spPr>
        <p:txBody>
          <a:bodyPr wrap="square" lIns="36576" tIns="36576" rIns="36576" bIns="36576">
            <a:spAutoFit/>
          </a:bodyPr>
          <a:lstStyle/>
          <a:p>
            <a:pPr algn="l">
              <a:defRPr sz="1200" b="0">
                <a:solidFill>
                  <a:srgbClr val="555560"/>
                </a:solidFill>
                <a:latin typeface="Segoe UI"/>
              </a:defRPr>
            </a:pPr>
            <a:r>
              <a:t>Natural language conceptual search across all transcripts powered by 384-dim dense embeddings.</a:t>
            </a:r>
          </a:p>
        </p:txBody>
      </p:sp>
      <p:sp>
        <p:nvSpPr>
          <p:cNvPr id="7" name="Rectangle 6"/>
          <p:cNvSpPr/>
          <p:nvPr/>
        </p:nvSpPr>
        <p:spPr>
          <a:xfrm>
            <a:off x="566928" y="1261872"/>
            <a:ext cx="960120" cy="54864"/>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018520" y="411480"/>
            <a:ext cx="594360" cy="320040"/>
          </a:xfrm>
          <a:prstGeom prst="rect">
            <a:avLst/>
          </a:prstGeom>
          <a:noFill/>
        </p:spPr>
        <p:txBody>
          <a:bodyPr wrap="square" lIns="36576" tIns="36576" rIns="36576" bIns="36576">
            <a:spAutoFit/>
          </a:bodyPr>
          <a:lstStyle/>
          <a:p>
            <a:pPr algn="r">
              <a:defRPr sz="1800" b="1">
                <a:solidFill>
                  <a:srgbClr val="27A6BE"/>
                </a:solidFill>
                <a:latin typeface="Segoe UI"/>
              </a:defRPr>
            </a:pPr>
            <a:r>
              <a:t>13</a:t>
            </a:r>
          </a:p>
        </p:txBody>
      </p:sp>
      <p:sp>
        <p:nvSpPr>
          <p:cNvPr id="9" name="Rounded Rectangle 8"/>
          <p:cNvSpPr/>
          <p:nvPr/>
        </p:nvSpPr>
        <p:spPr>
          <a:xfrm>
            <a:off x="8092440" y="1463040"/>
            <a:ext cx="3520440" cy="4800600"/>
          </a:xfrm>
          <a:prstGeom prst="roundRect">
            <a:avLst/>
          </a:prstGeom>
          <a:solidFill>
            <a:srgbClr val="FFFFFF"/>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275320" y="1645920"/>
            <a:ext cx="2011680" cy="274320"/>
          </a:xfrm>
          <a:prstGeom prst="round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900" b="1">
                <a:solidFill>
                  <a:srgbClr val="FFFFFF"/>
                </a:solidFill>
                <a:latin typeface="Segoe UI"/>
              </a:defRPr>
            </a:pPr>
            <a:r>
              <a:t>PRODUCTION SCREEN 04</a:t>
            </a:r>
          </a:p>
        </p:txBody>
      </p:sp>
      <p:sp>
        <p:nvSpPr>
          <p:cNvPr id="11" name="TextBox 10"/>
          <p:cNvSpPr txBox="1"/>
          <p:nvPr/>
        </p:nvSpPr>
        <p:spPr>
          <a:xfrm>
            <a:off x="8275320" y="205740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Intent-Based Query Matching</a:t>
            </a:r>
          </a:p>
        </p:txBody>
      </p:sp>
      <p:sp>
        <p:nvSpPr>
          <p:cNvPr id="12" name="TextBox 11"/>
          <p:cNvSpPr txBox="1"/>
          <p:nvPr/>
        </p:nvSpPr>
        <p:spPr>
          <a:xfrm>
            <a:off x="8275320" y="231343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Search by concept rather than exact keywords (e.g., 'Where did we discuss database schema migration?').</a:t>
            </a:r>
          </a:p>
        </p:txBody>
      </p:sp>
      <p:sp>
        <p:nvSpPr>
          <p:cNvPr id="13" name="TextBox 12"/>
          <p:cNvSpPr txBox="1"/>
          <p:nvPr/>
        </p:nvSpPr>
        <p:spPr>
          <a:xfrm>
            <a:off x="8275320" y="329184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Ranked Relevance Confidence</a:t>
            </a:r>
          </a:p>
        </p:txBody>
      </p:sp>
      <p:sp>
        <p:nvSpPr>
          <p:cNvPr id="14" name="TextBox 13"/>
          <p:cNvSpPr txBox="1"/>
          <p:nvPr/>
        </p:nvSpPr>
        <p:spPr>
          <a:xfrm>
            <a:off x="8275320" y="354787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Displays cosine similarity percentage badges (e.g., 96% Match, 88% Match, 81% Match).</a:t>
            </a:r>
          </a:p>
        </p:txBody>
      </p:sp>
      <p:sp>
        <p:nvSpPr>
          <p:cNvPr id="15" name="TextBox 14"/>
          <p:cNvSpPr txBox="1"/>
          <p:nvPr/>
        </p:nvSpPr>
        <p:spPr>
          <a:xfrm>
            <a:off x="8275320" y="452628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One-Click Audio Navigation</a:t>
            </a:r>
          </a:p>
        </p:txBody>
      </p:sp>
      <p:sp>
        <p:nvSpPr>
          <p:cNvPr id="16" name="TextBox 15"/>
          <p:cNvSpPr txBox="1"/>
          <p:nvPr/>
        </p:nvSpPr>
        <p:spPr>
          <a:xfrm>
            <a:off x="8275320" y="478231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Direct 'Jump to [00:00:34]' button navigates straight to the exact second in the recording.</a:t>
            </a:r>
          </a:p>
        </p:txBody>
      </p:sp>
      <p:sp>
        <p:nvSpPr>
          <p:cNvPr id="17" name="TextBox 16"/>
          <p:cNvSpPr txBox="1"/>
          <p:nvPr/>
        </p:nvSpPr>
        <p:spPr>
          <a:xfrm>
            <a:off x="566928" y="6519672"/>
            <a:ext cx="8138160" cy="201168"/>
          </a:xfrm>
          <a:prstGeom prst="rect">
            <a:avLst/>
          </a:prstGeom>
          <a:noFill/>
        </p:spPr>
        <p:txBody>
          <a:bodyPr wrap="square" lIns="36576" tIns="36576" rIns="36576" bIns="36576">
            <a:spAutoFit/>
          </a:bodyPr>
          <a:lstStyle/>
          <a:p>
            <a:pPr algn="l">
              <a:defRPr sz="900" b="0">
                <a:solidFill>
                  <a:srgbClr val="555560"/>
                </a:solidFill>
                <a:latin typeface="Segoe UI"/>
              </a:defRPr>
            </a:pPr>
            <a:r>
              <a:t>VoiceNote  •  Open Source Project Lab  •  B.E. IT  •  Semester VII</a:t>
            </a:r>
          </a:p>
        </p:txBody>
      </p:sp>
      <p:sp>
        <p:nvSpPr>
          <p:cNvPr id="18" name="TextBox 17"/>
          <p:cNvSpPr txBox="1"/>
          <p:nvPr/>
        </p:nvSpPr>
        <p:spPr>
          <a:xfrm>
            <a:off x="10789920" y="6519672"/>
            <a:ext cx="822960" cy="201168"/>
          </a:xfrm>
          <a:prstGeom prst="rect">
            <a:avLst/>
          </a:prstGeom>
          <a:noFill/>
        </p:spPr>
        <p:txBody>
          <a:bodyPr wrap="square" lIns="36576" tIns="36576" rIns="36576" bIns="36576">
            <a:spAutoFit/>
          </a:bodyPr>
          <a:lstStyle/>
          <a:p>
            <a:pPr algn="r">
              <a:defRPr sz="900" b="0">
                <a:solidFill>
                  <a:srgbClr val="555560"/>
                </a:solidFill>
                <a:latin typeface="Segoe UI"/>
              </a:defRPr>
            </a:pPr>
            <a:r>
              <a:t>13 / 17</a:t>
            </a:r>
          </a:p>
        </p:txBody>
      </p:sp>
    </p:spTree>
    <p:extLst>
      <p:ext uri="{BB962C8B-B14F-4D97-AF65-F5344CB8AC3E}">
        <p14:creationId xmlns:p14="http://schemas.microsoft.com/office/powerpoint/2010/main" val="115737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C9B1EA-CBBF-D797-9445-16A42F92AABD}"/>
              </a:ext>
            </a:extLst>
          </p:cNvPr>
          <p:cNvPicPr>
            <a:picLocks noChangeAspect="1"/>
          </p:cNvPicPr>
          <p:nvPr/>
        </p:nvPicPr>
        <p:blipFill>
          <a:blip r:embed="rId2"/>
          <a:stretch>
            <a:fillRect/>
          </a:stretch>
        </p:blipFill>
        <p:spPr>
          <a:xfrm>
            <a:off x="594360" y="1463040"/>
            <a:ext cx="7315200" cy="4800600"/>
          </a:xfrm>
          <a:prstGeom prst="rect">
            <a:avLst/>
          </a:prstGeom>
        </p:spPr>
      </p:pic>
      <p:sp>
        <p:nvSpPr>
          <p:cNvPr id="4" name="TextBox 3"/>
          <p:cNvSpPr txBox="1"/>
          <p:nvPr/>
        </p:nvSpPr>
        <p:spPr>
          <a:xfrm>
            <a:off x="566928" y="347472"/>
            <a:ext cx="9875520" cy="502920"/>
          </a:xfrm>
          <a:prstGeom prst="rect">
            <a:avLst/>
          </a:prstGeom>
          <a:noFill/>
        </p:spPr>
        <p:txBody>
          <a:bodyPr wrap="square" lIns="36576" tIns="36576" rIns="36576" bIns="36576">
            <a:spAutoFit/>
          </a:bodyPr>
          <a:lstStyle/>
          <a:p>
            <a:pPr algn="l">
              <a:defRPr sz="2400" b="1">
                <a:solidFill>
                  <a:srgbClr val="1E1E24"/>
                </a:solidFill>
                <a:latin typeface="Segoe UI"/>
              </a:defRPr>
            </a:pPr>
            <a:r>
              <a:t>Productivity Analytics &amp; Usage Insights</a:t>
            </a:r>
          </a:p>
        </p:txBody>
      </p:sp>
      <p:sp>
        <p:nvSpPr>
          <p:cNvPr id="5" name="TextBox 4"/>
          <p:cNvSpPr txBox="1"/>
          <p:nvPr/>
        </p:nvSpPr>
        <p:spPr>
          <a:xfrm>
            <a:off x="585216" y="877824"/>
            <a:ext cx="10424160" cy="384048"/>
          </a:xfrm>
          <a:prstGeom prst="rect">
            <a:avLst/>
          </a:prstGeom>
          <a:noFill/>
        </p:spPr>
        <p:txBody>
          <a:bodyPr wrap="square" lIns="36576" tIns="36576" rIns="36576" bIns="36576">
            <a:spAutoFit/>
          </a:bodyPr>
          <a:lstStyle/>
          <a:p>
            <a:pPr algn="l">
              <a:defRPr sz="1200" b="0">
                <a:solidFill>
                  <a:srgbClr val="555560"/>
                </a:solidFill>
                <a:latin typeface="Segoe UI"/>
              </a:defRPr>
            </a:pPr>
            <a:r>
              <a:t>Visualizing meeting duration trends, task completion velocity, and estimated AI time saved.</a:t>
            </a:r>
          </a:p>
        </p:txBody>
      </p:sp>
      <p:sp>
        <p:nvSpPr>
          <p:cNvPr id="6" name="Rectangle 5"/>
          <p:cNvSpPr/>
          <p:nvPr/>
        </p:nvSpPr>
        <p:spPr>
          <a:xfrm>
            <a:off x="566928" y="1261872"/>
            <a:ext cx="960120" cy="54864"/>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18520" y="411480"/>
            <a:ext cx="594360" cy="320040"/>
          </a:xfrm>
          <a:prstGeom prst="rect">
            <a:avLst/>
          </a:prstGeom>
          <a:noFill/>
        </p:spPr>
        <p:txBody>
          <a:bodyPr wrap="square" lIns="36576" tIns="36576" rIns="36576" bIns="36576">
            <a:spAutoFit/>
          </a:bodyPr>
          <a:lstStyle/>
          <a:p>
            <a:pPr algn="r">
              <a:defRPr sz="1800" b="1">
                <a:solidFill>
                  <a:srgbClr val="27A6BE"/>
                </a:solidFill>
                <a:latin typeface="Segoe UI"/>
              </a:defRPr>
            </a:pPr>
            <a:r>
              <a:t>14</a:t>
            </a:r>
          </a:p>
        </p:txBody>
      </p:sp>
      <p:sp>
        <p:nvSpPr>
          <p:cNvPr id="8" name="Rounded Rectangle 7"/>
          <p:cNvSpPr/>
          <p:nvPr/>
        </p:nvSpPr>
        <p:spPr>
          <a:xfrm>
            <a:off x="8092440" y="1463040"/>
            <a:ext cx="3520440" cy="4800600"/>
          </a:xfrm>
          <a:prstGeom prst="roundRect">
            <a:avLst/>
          </a:prstGeom>
          <a:solidFill>
            <a:srgbClr val="FFFFFF"/>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75320" y="1645920"/>
            <a:ext cx="2011680" cy="274320"/>
          </a:xfrm>
          <a:prstGeom prst="roundRect">
            <a:avLst/>
          </a:prstGeom>
          <a:solidFill>
            <a:srgbClr val="27A6BE"/>
          </a:solidFill>
          <a:ln>
            <a:no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defRPr sz="900" b="1">
                <a:solidFill>
                  <a:srgbClr val="FFFFFF"/>
                </a:solidFill>
                <a:latin typeface="Segoe UI"/>
              </a:defRPr>
            </a:pPr>
            <a:r>
              <a:t>PRODUCTION SCREEN 05</a:t>
            </a:r>
          </a:p>
        </p:txBody>
      </p:sp>
      <p:sp>
        <p:nvSpPr>
          <p:cNvPr id="10" name="TextBox 9"/>
          <p:cNvSpPr txBox="1"/>
          <p:nvPr/>
        </p:nvSpPr>
        <p:spPr>
          <a:xfrm>
            <a:off x="8275320" y="205740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Weekly Activity Trends</a:t>
            </a:r>
          </a:p>
        </p:txBody>
      </p:sp>
      <p:sp>
        <p:nvSpPr>
          <p:cNvPr id="11" name="TextBox 10"/>
          <p:cNvSpPr txBox="1"/>
          <p:nvPr/>
        </p:nvSpPr>
        <p:spPr>
          <a:xfrm>
            <a:off x="8275320" y="231343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Visual bar chart tracking recording minutes per day (Mon–Sun) to measure team engagement.</a:t>
            </a:r>
          </a:p>
        </p:txBody>
      </p:sp>
      <p:sp>
        <p:nvSpPr>
          <p:cNvPr id="12" name="TextBox 11"/>
          <p:cNvSpPr txBox="1"/>
          <p:nvPr/>
        </p:nvSpPr>
        <p:spPr>
          <a:xfrm>
            <a:off x="8275320" y="329184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Task Velocity Metric</a:t>
            </a:r>
          </a:p>
        </p:txBody>
      </p:sp>
      <p:sp>
        <p:nvSpPr>
          <p:cNvPr id="13" name="TextBox 12"/>
          <p:cNvSpPr txBox="1"/>
          <p:nvPr/>
        </p:nvSpPr>
        <p:spPr>
          <a:xfrm>
            <a:off x="8275320" y="354787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Overall completion rate monitor (82% completion velocity across 45 extracted deliverables).</a:t>
            </a:r>
          </a:p>
        </p:txBody>
      </p:sp>
      <p:sp>
        <p:nvSpPr>
          <p:cNvPr id="14" name="TextBox 13"/>
          <p:cNvSpPr txBox="1"/>
          <p:nvPr/>
        </p:nvSpPr>
        <p:spPr>
          <a:xfrm>
            <a:off x="8275320" y="4526280"/>
            <a:ext cx="3154680" cy="274320"/>
          </a:xfrm>
          <a:prstGeom prst="rect">
            <a:avLst/>
          </a:prstGeom>
          <a:noFill/>
        </p:spPr>
        <p:txBody>
          <a:bodyPr wrap="square" lIns="36576" tIns="36576" rIns="36576" bIns="36576">
            <a:spAutoFit/>
          </a:bodyPr>
          <a:lstStyle/>
          <a:p>
            <a:pPr algn="l">
              <a:defRPr sz="1100" b="1">
                <a:solidFill>
                  <a:srgbClr val="4A3E72"/>
                </a:solidFill>
                <a:latin typeface="Segoe UI"/>
              </a:defRPr>
            </a:pPr>
            <a:r>
              <a:t>✦ Estimated AI Time Saved</a:t>
            </a:r>
          </a:p>
        </p:txBody>
      </p:sp>
      <p:sp>
        <p:nvSpPr>
          <p:cNvPr id="15" name="TextBox 14"/>
          <p:cNvSpPr txBox="1"/>
          <p:nvPr/>
        </p:nvSpPr>
        <p:spPr>
          <a:xfrm>
            <a:off x="8275320" y="4782312"/>
            <a:ext cx="3154680" cy="868680"/>
          </a:xfrm>
          <a:prstGeom prst="rect">
            <a:avLst/>
          </a:prstGeom>
          <a:noFill/>
        </p:spPr>
        <p:txBody>
          <a:bodyPr wrap="square" lIns="36576" tIns="36576" rIns="36576" bIns="36576">
            <a:spAutoFit/>
          </a:bodyPr>
          <a:lstStyle/>
          <a:p>
            <a:pPr algn="l">
              <a:defRPr sz="1000" b="0">
                <a:solidFill>
                  <a:srgbClr val="1E1E24"/>
                </a:solidFill>
                <a:latin typeface="Segoe UI"/>
              </a:defRPr>
            </a:pPr>
            <a:r>
              <a:t>Quantified productivity gain counter (~12.5 hours saved by automated transcription &amp; AI synthesis).</a:t>
            </a:r>
          </a:p>
        </p:txBody>
      </p:sp>
      <p:sp>
        <p:nvSpPr>
          <p:cNvPr id="16" name="TextBox 15"/>
          <p:cNvSpPr txBox="1"/>
          <p:nvPr/>
        </p:nvSpPr>
        <p:spPr>
          <a:xfrm>
            <a:off x="566928" y="6519672"/>
            <a:ext cx="8138160" cy="201168"/>
          </a:xfrm>
          <a:prstGeom prst="rect">
            <a:avLst/>
          </a:prstGeom>
          <a:noFill/>
        </p:spPr>
        <p:txBody>
          <a:bodyPr wrap="square" lIns="36576" tIns="36576" rIns="36576" bIns="36576">
            <a:spAutoFit/>
          </a:bodyPr>
          <a:lstStyle/>
          <a:p>
            <a:pPr algn="l">
              <a:defRPr sz="900" b="0">
                <a:solidFill>
                  <a:srgbClr val="555560"/>
                </a:solidFill>
                <a:latin typeface="Segoe UI"/>
              </a:defRPr>
            </a:pPr>
            <a:r>
              <a:t>VoiceNote  •  Open Source Project Lab  •  B.E. IT  •  Semester VII</a:t>
            </a:r>
          </a:p>
        </p:txBody>
      </p:sp>
      <p:sp>
        <p:nvSpPr>
          <p:cNvPr id="17" name="TextBox 16"/>
          <p:cNvSpPr txBox="1"/>
          <p:nvPr/>
        </p:nvSpPr>
        <p:spPr>
          <a:xfrm>
            <a:off x="10789920" y="6519672"/>
            <a:ext cx="822960" cy="201168"/>
          </a:xfrm>
          <a:prstGeom prst="rect">
            <a:avLst/>
          </a:prstGeom>
          <a:noFill/>
        </p:spPr>
        <p:txBody>
          <a:bodyPr wrap="square" lIns="36576" tIns="36576" rIns="36576" bIns="36576">
            <a:spAutoFit/>
          </a:bodyPr>
          <a:lstStyle/>
          <a:p>
            <a:pPr algn="r">
              <a:defRPr sz="900" b="0">
                <a:solidFill>
                  <a:srgbClr val="555560"/>
                </a:solidFill>
                <a:latin typeface="Segoe UI"/>
              </a:defRPr>
            </a:pPr>
            <a:r>
              <a:t>14 / 17</a:t>
            </a:r>
          </a:p>
        </p:txBody>
      </p:sp>
    </p:spTree>
    <p:extLst>
      <p:ext uri="{BB962C8B-B14F-4D97-AF65-F5344CB8AC3E}">
        <p14:creationId xmlns:p14="http://schemas.microsoft.com/office/powerpoint/2010/main" val="2311780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9875520" cy="502920"/>
          </a:xfrm>
          <a:prstGeom prst="rect">
            <a:avLst/>
          </a:prstGeom>
          <a:noFill/>
        </p:spPr>
        <p:txBody>
          <a:bodyPr wrap="square" lIns="36576" tIns="36576" rIns="36576" bIns="36576">
            <a:spAutoFit/>
          </a:bodyPr>
          <a:lstStyle/>
          <a:p>
            <a:pPr algn="l">
              <a:defRPr sz="2400" b="1">
                <a:solidFill>
                  <a:srgbClr val="1E1E24"/>
                </a:solidFill>
                <a:latin typeface="Segoe UI"/>
              </a:defRPr>
            </a:pPr>
            <a:r>
              <a:t>Engineering Team &amp; Architectural Ownership</a:t>
            </a:r>
          </a:p>
        </p:txBody>
      </p:sp>
      <p:sp>
        <p:nvSpPr>
          <p:cNvPr id="3" name="TextBox 2"/>
          <p:cNvSpPr txBox="1"/>
          <p:nvPr/>
        </p:nvSpPr>
        <p:spPr>
          <a:xfrm>
            <a:off x="585216" y="877824"/>
            <a:ext cx="10424160" cy="384048"/>
          </a:xfrm>
          <a:prstGeom prst="rect">
            <a:avLst/>
          </a:prstGeom>
          <a:noFill/>
        </p:spPr>
        <p:txBody>
          <a:bodyPr wrap="square" lIns="36576" tIns="36576" rIns="36576" bIns="36576">
            <a:spAutoFit/>
          </a:bodyPr>
          <a:lstStyle/>
          <a:p>
            <a:pPr algn="l">
              <a:defRPr sz="1200" b="0">
                <a:solidFill>
                  <a:srgbClr val="555560"/>
                </a:solidFill>
                <a:latin typeface="Segoe UI"/>
              </a:defRPr>
            </a:pPr>
            <a:r>
              <a:t>Specialized engineering roles and modular technical contributions across the VoiceNote system.</a:t>
            </a:r>
          </a:p>
        </p:txBody>
      </p:sp>
      <p:sp>
        <p:nvSpPr>
          <p:cNvPr id="4" name="Rectangle 3"/>
          <p:cNvSpPr/>
          <p:nvPr/>
        </p:nvSpPr>
        <p:spPr>
          <a:xfrm>
            <a:off x="566928" y="1261872"/>
            <a:ext cx="960120" cy="54864"/>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18520" y="411480"/>
            <a:ext cx="594360" cy="320040"/>
          </a:xfrm>
          <a:prstGeom prst="rect">
            <a:avLst/>
          </a:prstGeom>
          <a:noFill/>
        </p:spPr>
        <p:txBody>
          <a:bodyPr wrap="square" lIns="36576" tIns="36576" rIns="36576" bIns="36576">
            <a:spAutoFit/>
          </a:bodyPr>
          <a:lstStyle/>
          <a:p>
            <a:pPr algn="r">
              <a:defRPr sz="1800" b="1">
                <a:solidFill>
                  <a:srgbClr val="27A6BE"/>
                </a:solidFill>
                <a:latin typeface="Segoe UI"/>
              </a:defRPr>
            </a:pPr>
            <a:r>
              <a:t>15</a:t>
            </a:r>
          </a:p>
        </p:txBody>
      </p:sp>
      <p:sp>
        <p:nvSpPr>
          <p:cNvPr id="6" name="TextBox 5"/>
          <p:cNvSpPr txBox="1"/>
          <p:nvPr/>
        </p:nvSpPr>
        <p:spPr>
          <a:xfrm>
            <a:off x="566928" y="6519672"/>
            <a:ext cx="8138160" cy="201168"/>
          </a:xfrm>
          <a:prstGeom prst="rect">
            <a:avLst/>
          </a:prstGeom>
          <a:noFill/>
        </p:spPr>
        <p:txBody>
          <a:bodyPr wrap="square" lIns="36576" tIns="36576" rIns="36576" bIns="36576">
            <a:spAutoFit/>
          </a:bodyPr>
          <a:lstStyle/>
          <a:p>
            <a:pPr algn="l">
              <a:defRPr sz="900" b="0">
                <a:solidFill>
                  <a:srgbClr val="555560"/>
                </a:solidFill>
                <a:latin typeface="Segoe UI"/>
              </a:defRPr>
            </a:pPr>
            <a:r>
              <a:t>VoiceNote  •  Open Source Project Lab  •  B.E. IT  •  Semester VII</a:t>
            </a:r>
          </a:p>
        </p:txBody>
      </p:sp>
      <p:sp>
        <p:nvSpPr>
          <p:cNvPr id="7" name="TextBox 6"/>
          <p:cNvSpPr txBox="1"/>
          <p:nvPr/>
        </p:nvSpPr>
        <p:spPr>
          <a:xfrm>
            <a:off x="10789920" y="6519672"/>
            <a:ext cx="822960" cy="201168"/>
          </a:xfrm>
          <a:prstGeom prst="rect">
            <a:avLst/>
          </a:prstGeom>
          <a:noFill/>
        </p:spPr>
        <p:txBody>
          <a:bodyPr wrap="square" lIns="36576" tIns="36576" rIns="36576" bIns="36576">
            <a:spAutoFit/>
          </a:bodyPr>
          <a:lstStyle/>
          <a:p>
            <a:pPr algn="r">
              <a:defRPr sz="900" b="0">
                <a:solidFill>
                  <a:srgbClr val="555560"/>
                </a:solidFill>
                <a:latin typeface="Segoe UI"/>
              </a:defRPr>
            </a:pPr>
            <a:r>
              <a:t>15 / 17</a:t>
            </a:r>
          </a:p>
        </p:txBody>
      </p:sp>
      <p:sp>
        <p:nvSpPr>
          <p:cNvPr id="8" name="Rounded Rectangle 7"/>
          <p:cNvSpPr/>
          <p:nvPr/>
        </p:nvSpPr>
        <p:spPr>
          <a:xfrm>
            <a:off x="594360" y="1554480"/>
            <a:ext cx="3566160" cy="4572000"/>
          </a:xfrm>
          <a:prstGeom prst="roundRect">
            <a:avLst/>
          </a:prstGeom>
          <a:solidFill>
            <a:srgbClr val="E7F1FD"/>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737360"/>
            <a:ext cx="3200400" cy="365760"/>
          </a:xfrm>
          <a:prstGeom prst="rect">
            <a:avLst/>
          </a:prstGeom>
          <a:noFill/>
        </p:spPr>
        <p:txBody>
          <a:bodyPr wrap="square" lIns="36576" tIns="36576" rIns="36576" bIns="36576">
            <a:spAutoFit/>
          </a:bodyPr>
          <a:lstStyle/>
          <a:p>
            <a:pPr algn="l">
              <a:defRPr sz="1300" b="1">
                <a:solidFill>
                  <a:srgbClr val="1E1E24"/>
                </a:solidFill>
                <a:latin typeface="Segoe UI"/>
              </a:defRPr>
            </a:pPr>
            <a:r>
              <a:t>Tejas Rawool (@admin)</a:t>
            </a:r>
          </a:p>
        </p:txBody>
      </p:sp>
      <p:sp>
        <p:nvSpPr>
          <p:cNvPr id="10" name="TextBox 9"/>
          <p:cNvSpPr txBox="1"/>
          <p:nvPr/>
        </p:nvSpPr>
        <p:spPr>
          <a:xfrm>
            <a:off x="777240" y="2057400"/>
            <a:ext cx="3200400" cy="274320"/>
          </a:xfrm>
          <a:prstGeom prst="rect">
            <a:avLst/>
          </a:prstGeom>
          <a:noFill/>
        </p:spPr>
        <p:txBody>
          <a:bodyPr wrap="square" lIns="36576" tIns="36576" rIns="36576" bIns="36576">
            <a:spAutoFit/>
          </a:bodyPr>
          <a:lstStyle/>
          <a:p>
            <a:pPr algn="l">
              <a:defRPr sz="1000" b="1">
                <a:solidFill>
                  <a:srgbClr val="4A3E72"/>
                </a:solidFill>
                <a:latin typeface="Segoe UI"/>
              </a:defRPr>
            </a:pPr>
            <a:r>
              <a:t>System Architect &amp; Backend Lead</a:t>
            </a:r>
          </a:p>
        </p:txBody>
      </p:sp>
      <p:sp>
        <p:nvSpPr>
          <p:cNvPr id="11" name="Rectangle 10"/>
          <p:cNvSpPr/>
          <p:nvPr/>
        </p:nvSpPr>
        <p:spPr>
          <a:xfrm>
            <a:off x="777240" y="2377440"/>
            <a:ext cx="1371600" cy="36576"/>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514600"/>
            <a:ext cx="3200400" cy="3383280"/>
          </a:xfrm>
          <a:prstGeom prst="rect">
            <a:avLst/>
          </a:prstGeom>
          <a:noFill/>
        </p:spPr>
        <p:txBody>
          <a:bodyPr wrap="square" lIns="36576" tIns="36576" rIns="36576" bIns="36576">
            <a:spAutoFit/>
          </a:bodyPr>
          <a:lstStyle/>
          <a:p>
            <a:pPr algn="l">
              <a:defRPr sz="1000" b="0">
                <a:solidFill>
                  <a:srgbClr val="1E1E24"/>
                </a:solidFill>
                <a:latin typeface="Segoe UI"/>
              </a:defRPr>
            </a:pPr>
            <a:r>
              <a:rPr dirty="0"/>
              <a:t>✦ PostgreSQL Persistence Layer &amp; Cascading Relational Schema</a:t>
            </a:r>
          </a:p>
          <a:p>
            <a:pPr algn="l">
              <a:defRPr sz="1000" b="0">
                <a:solidFill>
                  <a:srgbClr val="1E1E24"/>
                </a:solidFill>
                <a:latin typeface="Segoe UI"/>
              </a:defRPr>
            </a:pPr>
            <a:endParaRPr dirty="0"/>
          </a:p>
          <a:p>
            <a:pPr algn="l">
              <a:defRPr sz="1000" b="0">
                <a:solidFill>
                  <a:srgbClr val="1E1E24"/>
                </a:solidFill>
                <a:latin typeface="Segoe UI"/>
              </a:defRPr>
            </a:pPr>
            <a:r>
              <a:rPr dirty="0"/>
              <a:t>✦ </a:t>
            </a:r>
            <a:r>
              <a:rPr dirty="0" err="1"/>
              <a:t>ChromaDB</a:t>
            </a:r>
            <a:r>
              <a:rPr dirty="0"/>
              <a:t> Vector Engine &amp; Cosine Similarity Search Engine</a:t>
            </a:r>
          </a:p>
          <a:p>
            <a:pPr algn="l">
              <a:defRPr sz="1000" b="0">
                <a:solidFill>
                  <a:srgbClr val="1E1E24"/>
                </a:solidFill>
                <a:latin typeface="Segoe UI"/>
              </a:defRPr>
            </a:pPr>
            <a:endParaRPr dirty="0"/>
          </a:p>
          <a:p>
            <a:pPr algn="l">
              <a:defRPr sz="1000" b="0">
                <a:solidFill>
                  <a:srgbClr val="1E1E24"/>
                </a:solidFill>
                <a:latin typeface="Segoe UI"/>
              </a:defRPr>
            </a:pPr>
            <a:r>
              <a:rPr dirty="0"/>
              <a:t>✦ Multi-Tier Resilient Gemini LLM Fallback Ladder (3.8 → 2.5 → 2.0 → 1.5)</a:t>
            </a:r>
          </a:p>
          <a:p>
            <a:pPr algn="l">
              <a:defRPr sz="1000" b="0">
                <a:solidFill>
                  <a:srgbClr val="1E1E24"/>
                </a:solidFill>
                <a:latin typeface="Segoe UI"/>
              </a:defRPr>
            </a:pPr>
            <a:endParaRPr dirty="0"/>
          </a:p>
          <a:p>
            <a:pPr algn="l">
              <a:defRPr sz="1000" b="0">
                <a:solidFill>
                  <a:srgbClr val="1E1E24"/>
                </a:solidFill>
                <a:latin typeface="Segoe UI"/>
              </a:defRPr>
            </a:pPr>
            <a:r>
              <a:rPr dirty="0"/>
              <a:t>✦ </a:t>
            </a:r>
            <a:r>
              <a:rPr dirty="0" err="1"/>
              <a:t>AudioEngine</a:t>
            </a:r>
            <a:r>
              <a:rPr dirty="0"/>
              <a:t> Calibration, Peak </a:t>
            </a:r>
            <a:r>
              <a:rPr dirty="0" err="1"/>
              <a:t>dBFS</a:t>
            </a:r>
            <a:r>
              <a:rPr dirty="0"/>
              <a:t> / RMS Telemetry &amp; WASAPI Loopback</a:t>
            </a:r>
          </a:p>
          <a:p>
            <a:pPr algn="l">
              <a:defRPr sz="1000" b="0">
                <a:solidFill>
                  <a:srgbClr val="1E1E24"/>
                </a:solidFill>
                <a:latin typeface="Segoe UI"/>
              </a:defRPr>
            </a:pPr>
            <a:endParaRPr dirty="0"/>
          </a:p>
          <a:p>
            <a:pPr algn="l">
              <a:defRPr sz="1000" b="0">
                <a:solidFill>
                  <a:srgbClr val="1E1E24"/>
                </a:solidFill>
                <a:latin typeface="Segoe UI"/>
              </a:defRPr>
            </a:pPr>
            <a:r>
              <a:rPr dirty="0"/>
              <a:t>✦ Marathi Devanagari </a:t>
            </a:r>
            <a:r>
              <a:rPr dirty="0" err="1"/>
              <a:t>TranscriptCorrector</a:t>
            </a:r>
            <a:r>
              <a:rPr dirty="0"/>
              <a:t> &amp; 9-Module Test Suite Runner</a:t>
            </a:r>
          </a:p>
        </p:txBody>
      </p:sp>
      <p:sp>
        <p:nvSpPr>
          <p:cNvPr id="13" name="Rounded Rectangle 12"/>
          <p:cNvSpPr/>
          <p:nvPr/>
        </p:nvSpPr>
        <p:spPr>
          <a:xfrm>
            <a:off x="4297680" y="1554480"/>
            <a:ext cx="3566160" cy="4572000"/>
          </a:xfrm>
          <a:prstGeom prst="roundRect">
            <a:avLst/>
          </a:prstGeom>
          <a:solidFill>
            <a:srgbClr val="E5F7F3"/>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80560" y="1737360"/>
            <a:ext cx="3200400" cy="365760"/>
          </a:xfrm>
          <a:prstGeom prst="rect">
            <a:avLst/>
          </a:prstGeom>
          <a:noFill/>
        </p:spPr>
        <p:txBody>
          <a:bodyPr wrap="square" lIns="36576" tIns="36576" rIns="36576" bIns="36576">
            <a:spAutoFit/>
          </a:bodyPr>
          <a:lstStyle/>
          <a:p>
            <a:pPr algn="l">
              <a:defRPr sz="1300" b="1">
                <a:solidFill>
                  <a:srgbClr val="1E1E24"/>
                </a:solidFill>
                <a:latin typeface="Segoe UI"/>
              </a:defRPr>
            </a:pPr>
            <a:r>
              <a:t>Samar Shetye</a:t>
            </a:r>
          </a:p>
        </p:txBody>
      </p:sp>
      <p:sp>
        <p:nvSpPr>
          <p:cNvPr id="15" name="TextBox 14"/>
          <p:cNvSpPr txBox="1"/>
          <p:nvPr/>
        </p:nvSpPr>
        <p:spPr>
          <a:xfrm>
            <a:off x="4480560" y="2057400"/>
            <a:ext cx="3200400" cy="274320"/>
          </a:xfrm>
          <a:prstGeom prst="rect">
            <a:avLst/>
          </a:prstGeom>
          <a:noFill/>
        </p:spPr>
        <p:txBody>
          <a:bodyPr wrap="square" lIns="36576" tIns="36576" rIns="36576" bIns="36576">
            <a:spAutoFit/>
          </a:bodyPr>
          <a:lstStyle/>
          <a:p>
            <a:pPr algn="l">
              <a:defRPr sz="1000" b="1">
                <a:solidFill>
                  <a:srgbClr val="4A3E72"/>
                </a:solidFill>
                <a:latin typeface="Segoe UI"/>
              </a:defRPr>
            </a:pPr>
            <a:r>
              <a:t>UI/UX Lead &amp; Presentation Architect</a:t>
            </a:r>
          </a:p>
        </p:txBody>
      </p:sp>
      <p:sp>
        <p:nvSpPr>
          <p:cNvPr id="16" name="Rectangle 15"/>
          <p:cNvSpPr/>
          <p:nvPr/>
        </p:nvSpPr>
        <p:spPr>
          <a:xfrm>
            <a:off x="4480560" y="2377440"/>
            <a:ext cx="1371600" cy="36576"/>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80560" y="2514600"/>
            <a:ext cx="3200400" cy="3383280"/>
          </a:xfrm>
          <a:prstGeom prst="rect">
            <a:avLst/>
          </a:prstGeom>
          <a:noFill/>
        </p:spPr>
        <p:txBody>
          <a:bodyPr wrap="square" lIns="36576" tIns="36576" rIns="36576" bIns="36576">
            <a:spAutoFit/>
          </a:bodyPr>
          <a:lstStyle/>
          <a:p>
            <a:pPr algn="l">
              <a:defRPr sz="1000" b="0">
                <a:solidFill>
                  <a:srgbClr val="1E1E24"/>
                </a:solidFill>
                <a:latin typeface="Segoe UI"/>
              </a:defRPr>
            </a:pPr>
            <a:r>
              <a:t>✦ PySide6 Bento Grid &amp; Retro Warm Cream Design System</a:t>
            </a:r>
          </a:p>
          <a:p>
            <a:pPr algn="l">
              <a:defRPr sz="1000" b="0">
                <a:solidFill>
                  <a:srgbClr val="1E1E24"/>
                </a:solidFill>
                <a:latin typeface="Segoe UI"/>
              </a:defRPr>
            </a:pPr>
            <a:endParaRPr/>
          </a:p>
          <a:p>
            <a:pPr algn="l">
              <a:defRPr sz="1000" b="0">
                <a:solidFill>
                  <a:srgbClr val="1E1E24"/>
                </a:solidFill>
                <a:latin typeface="Segoe UI"/>
              </a:defRPr>
            </a:pPr>
            <a:r>
              <a:t>✦ WaveformWidget &amp; 60 FPS Real-Time QPainter Audio Visualizer</a:t>
            </a:r>
          </a:p>
          <a:p>
            <a:pPr algn="l">
              <a:defRPr sz="1000" b="0">
                <a:solidFill>
                  <a:srgbClr val="1E1E24"/>
                </a:solidFill>
                <a:latin typeface="Segoe UI"/>
              </a:defRPr>
            </a:pPr>
            <a:endParaRPr/>
          </a:p>
          <a:p>
            <a:pPr algn="l">
              <a:defRPr sz="1000" b="0">
                <a:solidFill>
                  <a:srgbClr val="1E1E24"/>
                </a:solidFill>
                <a:latin typeface="Segoe UI"/>
              </a:defRPr>
            </a:pPr>
            <a:r>
              <a:t>✦ TranscriptViewWidget with Color-Coded Speaker Attributed Bubbles</a:t>
            </a:r>
          </a:p>
          <a:p>
            <a:pPr algn="l">
              <a:defRPr sz="1000" b="0">
                <a:solidFill>
                  <a:srgbClr val="1E1E24"/>
                </a:solidFill>
                <a:latin typeface="Segoe UI"/>
              </a:defRPr>
            </a:pPr>
            <a:endParaRPr/>
          </a:p>
          <a:p>
            <a:pPr algn="l">
              <a:defRPr sz="1000" b="0">
                <a:solidFill>
                  <a:srgbClr val="1E1E24"/>
                </a:solidFill>
                <a:latin typeface="Segoe UI"/>
              </a:defRPr>
            </a:pPr>
            <a:r>
              <a:t>✦ SummaryTaskWidget &amp; Interactive Priority Task Board</a:t>
            </a:r>
          </a:p>
          <a:p>
            <a:pPr algn="l">
              <a:defRPr sz="1000" b="0">
                <a:solidFill>
                  <a:srgbClr val="1E1E24"/>
                </a:solidFill>
                <a:latin typeface="Segoe UI"/>
              </a:defRPr>
            </a:pPr>
            <a:endParaRPr/>
          </a:p>
          <a:p>
            <a:pPr algn="l">
              <a:defRPr sz="1000" b="0">
                <a:solidFill>
                  <a:srgbClr val="1E1E24"/>
                </a:solidFill>
                <a:latin typeface="Segoe UI"/>
              </a:defRPr>
            </a:pPr>
            <a:r>
              <a:t>✦ ReportLab PDF (with Embedded Indic Fonts) &amp; DOCX Export Engine</a:t>
            </a:r>
          </a:p>
        </p:txBody>
      </p:sp>
      <p:sp>
        <p:nvSpPr>
          <p:cNvPr id="18" name="Rounded Rectangle 17"/>
          <p:cNvSpPr/>
          <p:nvPr/>
        </p:nvSpPr>
        <p:spPr>
          <a:xfrm>
            <a:off x="8001000" y="1554480"/>
            <a:ext cx="3566160" cy="4572000"/>
          </a:xfrm>
          <a:prstGeom prst="roundRect">
            <a:avLst/>
          </a:prstGeom>
          <a:solidFill>
            <a:srgbClr val="FDF1E4"/>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83880" y="1737360"/>
            <a:ext cx="3200400" cy="365760"/>
          </a:xfrm>
          <a:prstGeom prst="rect">
            <a:avLst/>
          </a:prstGeom>
          <a:noFill/>
        </p:spPr>
        <p:txBody>
          <a:bodyPr wrap="square" lIns="36576" tIns="36576" rIns="36576" bIns="36576">
            <a:spAutoFit/>
          </a:bodyPr>
          <a:lstStyle/>
          <a:p>
            <a:pPr algn="l">
              <a:defRPr sz="1300" b="1">
                <a:solidFill>
                  <a:srgbClr val="1E1E24"/>
                </a:solidFill>
                <a:latin typeface="Segoe UI"/>
              </a:defRPr>
            </a:pPr>
            <a:r>
              <a:t>Atharv Pavar</a:t>
            </a:r>
          </a:p>
        </p:txBody>
      </p:sp>
      <p:sp>
        <p:nvSpPr>
          <p:cNvPr id="20" name="TextBox 19"/>
          <p:cNvSpPr txBox="1"/>
          <p:nvPr/>
        </p:nvSpPr>
        <p:spPr>
          <a:xfrm>
            <a:off x="8183880" y="2057400"/>
            <a:ext cx="3200400" cy="274320"/>
          </a:xfrm>
          <a:prstGeom prst="rect">
            <a:avLst/>
          </a:prstGeom>
          <a:noFill/>
        </p:spPr>
        <p:txBody>
          <a:bodyPr wrap="square" lIns="36576" tIns="36576" rIns="36576" bIns="36576">
            <a:spAutoFit/>
          </a:bodyPr>
          <a:lstStyle/>
          <a:p>
            <a:pPr algn="l">
              <a:defRPr sz="1000" b="1">
                <a:solidFill>
                  <a:srgbClr val="4A3E72"/>
                </a:solidFill>
                <a:latin typeface="Segoe UI"/>
              </a:defRPr>
            </a:pPr>
            <a:r>
              <a:t>AI &amp; Machine Learning Lead</a:t>
            </a:r>
          </a:p>
        </p:txBody>
      </p:sp>
      <p:sp>
        <p:nvSpPr>
          <p:cNvPr id="21" name="Rectangle 20"/>
          <p:cNvSpPr/>
          <p:nvPr/>
        </p:nvSpPr>
        <p:spPr>
          <a:xfrm>
            <a:off x="8183880" y="2377440"/>
            <a:ext cx="1371600" cy="36576"/>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183880" y="2514600"/>
            <a:ext cx="3200400" cy="3383280"/>
          </a:xfrm>
          <a:prstGeom prst="rect">
            <a:avLst/>
          </a:prstGeom>
          <a:noFill/>
        </p:spPr>
        <p:txBody>
          <a:bodyPr wrap="square" lIns="36576" tIns="36576" rIns="36576" bIns="36576">
            <a:spAutoFit/>
          </a:bodyPr>
          <a:lstStyle/>
          <a:p>
            <a:pPr algn="l">
              <a:defRPr sz="1000" b="0">
                <a:solidFill>
                  <a:srgbClr val="1E1E24"/>
                </a:solidFill>
                <a:latin typeface="Segoe UI"/>
              </a:defRPr>
            </a:pPr>
            <a:r>
              <a:t>✦ Initial Faster-Whisper (CTranslate2) &amp; Groq Cloud STT Integration</a:t>
            </a:r>
          </a:p>
          <a:p>
            <a:pPr algn="l">
              <a:defRPr sz="1000" b="0">
                <a:solidFill>
                  <a:srgbClr val="1E1E24"/>
                </a:solidFill>
                <a:latin typeface="Segoe UI"/>
              </a:defRPr>
            </a:pPr>
            <a:endParaRPr/>
          </a:p>
          <a:p>
            <a:pPr algn="l">
              <a:defRPr sz="1000" b="0">
                <a:solidFill>
                  <a:srgbClr val="1E1E24"/>
                </a:solidFill>
                <a:latin typeface="Segoe UI"/>
              </a:defRPr>
            </a:pPr>
            <a:r>
              <a:t>✦ Prompt Engineering for Meeting Intelligence &amp; Structured JSON Schemas</a:t>
            </a:r>
          </a:p>
          <a:p>
            <a:pPr algn="l">
              <a:defRPr sz="1000" b="0">
                <a:solidFill>
                  <a:srgbClr val="1E1E24"/>
                </a:solidFill>
                <a:latin typeface="Segoe UI"/>
              </a:defRPr>
            </a:pPr>
            <a:endParaRPr/>
          </a:p>
          <a:p>
            <a:pPr algn="l">
              <a:defRPr sz="1000" b="0">
                <a:solidFill>
                  <a:srgbClr val="1E1E24"/>
                </a:solidFill>
                <a:latin typeface="Segoe UI"/>
              </a:defRPr>
            </a:pPr>
            <a:r>
              <a:t>✦ Pydantic Data Validation Models (Note, Summary, Task, Sentiment)</a:t>
            </a:r>
          </a:p>
          <a:p>
            <a:pPr algn="l">
              <a:defRPr sz="1000" b="0">
                <a:solidFill>
                  <a:srgbClr val="1E1E24"/>
                </a:solidFill>
                <a:latin typeface="Segoe UI"/>
              </a:defRPr>
            </a:pPr>
            <a:endParaRPr/>
          </a:p>
          <a:p>
            <a:pPr algn="l">
              <a:defRPr sz="1000" b="0">
                <a:solidFill>
                  <a:srgbClr val="1E1E24"/>
                </a:solidFill>
                <a:latin typeface="Segoe UI"/>
              </a:defRPr>
            </a:pPr>
            <a:r>
              <a:t>✦ Speaker Diarization Acoustic Turn Segmentation Engine</a:t>
            </a:r>
          </a:p>
          <a:p>
            <a:pPr algn="l">
              <a:defRPr sz="1000" b="0">
                <a:solidFill>
                  <a:srgbClr val="1E1E24"/>
                </a:solidFill>
                <a:latin typeface="Segoe UI"/>
              </a:defRPr>
            </a:pPr>
            <a:endParaRPr/>
          </a:p>
          <a:p>
            <a:pPr algn="l">
              <a:defRPr sz="1000" b="0">
                <a:solidFill>
                  <a:srgbClr val="1E1E24"/>
                </a:solidFill>
                <a:latin typeface="Segoe UI"/>
              </a:defRPr>
            </a:pPr>
            <a:r>
              <a:t>✦ Pipeline Test Harness &amp; Speech Recognition Benchmarking</a:t>
            </a:r>
          </a:p>
        </p:txBody>
      </p:sp>
    </p:spTree>
    <p:extLst>
      <p:ext uri="{BB962C8B-B14F-4D97-AF65-F5344CB8AC3E}">
        <p14:creationId xmlns:p14="http://schemas.microsoft.com/office/powerpoint/2010/main" val="2073237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47472"/>
            <a:ext cx="9875520" cy="502920"/>
          </a:xfrm>
          <a:prstGeom prst="rect">
            <a:avLst/>
          </a:prstGeom>
          <a:noFill/>
        </p:spPr>
        <p:txBody>
          <a:bodyPr wrap="square" lIns="36576" tIns="36576" rIns="36576" bIns="36576">
            <a:spAutoFit/>
          </a:bodyPr>
          <a:lstStyle/>
          <a:p>
            <a:pPr algn="l">
              <a:defRPr sz="2400" b="1">
                <a:solidFill>
                  <a:srgbClr val="1E1E24"/>
                </a:solidFill>
                <a:latin typeface="Segoe UI"/>
              </a:defRPr>
            </a:pPr>
            <a:r>
              <a:t>Quality Assurance, Expected Outcomes &amp; Future Roadmap</a:t>
            </a:r>
          </a:p>
        </p:txBody>
      </p:sp>
      <p:sp>
        <p:nvSpPr>
          <p:cNvPr id="3" name="TextBox 2"/>
          <p:cNvSpPr txBox="1"/>
          <p:nvPr/>
        </p:nvSpPr>
        <p:spPr>
          <a:xfrm>
            <a:off x="585216" y="877824"/>
            <a:ext cx="10424160" cy="384048"/>
          </a:xfrm>
          <a:prstGeom prst="rect">
            <a:avLst/>
          </a:prstGeom>
          <a:noFill/>
        </p:spPr>
        <p:txBody>
          <a:bodyPr wrap="square" lIns="36576" tIns="36576" rIns="36576" bIns="36576">
            <a:spAutoFit/>
          </a:bodyPr>
          <a:lstStyle/>
          <a:p>
            <a:pPr algn="l">
              <a:defRPr sz="1200" b="0">
                <a:solidFill>
                  <a:srgbClr val="555560"/>
                </a:solidFill>
                <a:latin typeface="Segoe UI"/>
              </a:defRPr>
            </a:pPr>
            <a:r>
              <a:t>Rigorous automated test verification, measurable project impact, and next-phase deployment.</a:t>
            </a:r>
          </a:p>
        </p:txBody>
      </p:sp>
      <p:sp>
        <p:nvSpPr>
          <p:cNvPr id="4" name="Rectangle 3"/>
          <p:cNvSpPr/>
          <p:nvPr/>
        </p:nvSpPr>
        <p:spPr>
          <a:xfrm>
            <a:off x="566928" y="1261872"/>
            <a:ext cx="960120" cy="54864"/>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018520" y="411480"/>
            <a:ext cx="594360" cy="320040"/>
          </a:xfrm>
          <a:prstGeom prst="rect">
            <a:avLst/>
          </a:prstGeom>
          <a:noFill/>
        </p:spPr>
        <p:txBody>
          <a:bodyPr wrap="square" lIns="36576" tIns="36576" rIns="36576" bIns="36576">
            <a:spAutoFit/>
          </a:bodyPr>
          <a:lstStyle/>
          <a:p>
            <a:pPr algn="r">
              <a:defRPr sz="1800" b="1">
                <a:solidFill>
                  <a:srgbClr val="27A6BE"/>
                </a:solidFill>
                <a:latin typeface="Segoe UI"/>
              </a:defRPr>
            </a:pPr>
            <a:r>
              <a:t>16</a:t>
            </a:r>
          </a:p>
        </p:txBody>
      </p:sp>
      <p:sp>
        <p:nvSpPr>
          <p:cNvPr id="6" name="TextBox 5"/>
          <p:cNvSpPr txBox="1"/>
          <p:nvPr/>
        </p:nvSpPr>
        <p:spPr>
          <a:xfrm>
            <a:off x="566928" y="6519672"/>
            <a:ext cx="8138160" cy="201168"/>
          </a:xfrm>
          <a:prstGeom prst="rect">
            <a:avLst/>
          </a:prstGeom>
          <a:noFill/>
        </p:spPr>
        <p:txBody>
          <a:bodyPr wrap="square" lIns="36576" tIns="36576" rIns="36576" bIns="36576">
            <a:spAutoFit/>
          </a:bodyPr>
          <a:lstStyle/>
          <a:p>
            <a:pPr algn="l">
              <a:defRPr sz="900" b="0">
                <a:solidFill>
                  <a:srgbClr val="555560"/>
                </a:solidFill>
                <a:latin typeface="Segoe UI"/>
              </a:defRPr>
            </a:pPr>
            <a:r>
              <a:t>VoiceNote  •  Open Source Project Lab  •  B.E. IT  •  Semester VII</a:t>
            </a:r>
          </a:p>
        </p:txBody>
      </p:sp>
      <p:sp>
        <p:nvSpPr>
          <p:cNvPr id="7" name="TextBox 6"/>
          <p:cNvSpPr txBox="1"/>
          <p:nvPr/>
        </p:nvSpPr>
        <p:spPr>
          <a:xfrm>
            <a:off x="10789920" y="6519672"/>
            <a:ext cx="822960" cy="201168"/>
          </a:xfrm>
          <a:prstGeom prst="rect">
            <a:avLst/>
          </a:prstGeom>
          <a:noFill/>
        </p:spPr>
        <p:txBody>
          <a:bodyPr wrap="square" lIns="36576" tIns="36576" rIns="36576" bIns="36576">
            <a:spAutoFit/>
          </a:bodyPr>
          <a:lstStyle/>
          <a:p>
            <a:pPr algn="r">
              <a:defRPr sz="900" b="0">
                <a:solidFill>
                  <a:srgbClr val="555560"/>
                </a:solidFill>
                <a:latin typeface="Segoe UI"/>
              </a:defRPr>
            </a:pPr>
            <a:r>
              <a:t>16 / 17</a:t>
            </a:r>
          </a:p>
        </p:txBody>
      </p:sp>
      <p:sp>
        <p:nvSpPr>
          <p:cNvPr id="8" name="Rounded Rectangle 7"/>
          <p:cNvSpPr/>
          <p:nvPr/>
        </p:nvSpPr>
        <p:spPr>
          <a:xfrm>
            <a:off x="594360" y="1554480"/>
            <a:ext cx="3566160" cy="4572000"/>
          </a:xfrm>
          <a:prstGeom prst="roundRect">
            <a:avLst/>
          </a:prstGeom>
          <a:solidFill>
            <a:srgbClr val="E5F7F3"/>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737360"/>
            <a:ext cx="3200400" cy="502920"/>
          </a:xfrm>
          <a:prstGeom prst="rect">
            <a:avLst/>
          </a:prstGeom>
          <a:noFill/>
        </p:spPr>
        <p:txBody>
          <a:bodyPr wrap="square" lIns="36576" tIns="36576" rIns="36576" bIns="36576">
            <a:spAutoFit/>
          </a:bodyPr>
          <a:lstStyle/>
          <a:p>
            <a:pPr algn="l">
              <a:defRPr sz="1200" b="1">
                <a:solidFill>
                  <a:srgbClr val="1E1E24"/>
                </a:solidFill>
                <a:latin typeface="Segoe UI"/>
              </a:defRPr>
            </a:pPr>
            <a:r>
              <a:t>9-Module Automated Quality Gate</a:t>
            </a:r>
          </a:p>
        </p:txBody>
      </p:sp>
      <p:sp>
        <p:nvSpPr>
          <p:cNvPr id="10" name="Rectangle 9"/>
          <p:cNvSpPr/>
          <p:nvPr/>
        </p:nvSpPr>
        <p:spPr>
          <a:xfrm>
            <a:off x="777240" y="2286000"/>
            <a:ext cx="1371600" cy="36576"/>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423160"/>
            <a:ext cx="3200400" cy="3474720"/>
          </a:xfrm>
          <a:prstGeom prst="rect">
            <a:avLst/>
          </a:prstGeom>
          <a:noFill/>
        </p:spPr>
        <p:txBody>
          <a:bodyPr wrap="square" lIns="36576" tIns="36576" rIns="36576" bIns="36576">
            <a:spAutoFit/>
          </a:bodyPr>
          <a:lstStyle/>
          <a:p>
            <a:pPr algn="l">
              <a:defRPr sz="1000" b="0">
                <a:solidFill>
                  <a:srgbClr val="1E1E24"/>
                </a:solidFill>
                <a:latin typeface="Segoe UI"/>
              </a:defRPr>
            </a:pPr>
            <a:r>
              <a:rPr dirty="0"/>
              <a:t>Unified test suite in run_all_tests.py with 100% pass verification:</a:t>
            </a:r>
          </a:p>
          <a:p>
            <a:pPr algn="l">
              <a:defRPr sz="1000" b="0">
                <a:solidFill>
                  <a:srgbClr val="1E1E24"/>
                </a:solidFill>
                <a:latin typeface="Segoe UI"/>
              </a:defRPr>
            </a:pPr>
            <a:endParaRPr dirty="0"/>
          </a:p>
          <a:p>
            <a:pPr algn="l">
              <a:defRPr sz="1000" b="0">
                <a:solidFill>
                  <a:srgbClr val="1E1E24"/>
                </a:solidFill>
                <a:latin typeface="Segoe UI"/>
              </a:defRPr>
            </a:pPr>
            <a:r>
              <a:rPr dirty="0"/>
              <a:t>1. PostgreSQL Database Connectivity &amp; Seeding</a:t>
            </a:r>
          </a:p>
          <a:p>
            <a:pPr algn="l">
              <a:defRPr sz="1000" b="0">
                <a:solidFill>
                  <a:srgbClr val="1E1E24"/>
                </a:solidFill>
                <a:latin typeface="Segoe UI"/>
              </a:defRPr>
            </a:pPr>
            <a:r>
              <a:rPr dirty="0"/>
              <a:t>2. Text Cleaner Whitespace Normalization</a:t>
            </a:r>
          </a:p>
          <a:p>
            <a:pPr algn="l">
              <a:defRPr sz="1000" b="0">
                <a:solidFill>
                  <a:srgbClr val="1E1E24"/>
                </a:solidFill>
                <a:latin typeface="Segoe UI"/>
              </a:defRPr>
            </a:pPr>
            <a:r>
              <a:rPr dirty="0"/>
              <a:t>3. Audio Recording WAV Buffering &amp; Storage</a:t>
            </a:r>
          </a:p>
          <a:p>
            <a:pPr algn="l">
              <a:defRPr sz="1000" b="0">
                <a:solidFill>
                  <a:srgbClr val="1E1E24"/>
                </a:solidFill>
                <a:latin typeface="Segoe UI"/>
              </a:defRPr>
            </a:pPr>
            <a:r>
              <a:rPr dirty="0"/>
              <a:t>4. Gemini AI Engine &amp; JSON Schemas</a:t>
            </a:r>
          </a:p>
          <a:p>
            <a:pPr algn="l">
              <a:defRPr sz="1000" b="0">
                <a:solidFill>
                  <a:srgbClr val="1E1E24"/>
                </a:solidFill>
                <a:latin typeface="Segoe UI"/>
              </a:defRPr>
            </a:pPr>
            <a:r>
              <a:rPr dirty="0"/>
              <a:t>5. </a:t>
            </a:r>
            <a:r>
              <a:rPr dirty="0" err="1"/>
              <a:t>ReportLab</a:t>
            </a:r>
            <a:r>
              <a:rPr dirty="0"/>
              <a:t> PDF &amp; DOCX Export Engine</a:t>
            </a:r>
          </a:p>
          <a:p>
            <a:pPr algn="l">
              <a:defRPr sz="1000" b="0">
                <a:solidFill>
                  <a:srgbClr val="1E1E24"/>
                </a:solidFill>
                <a:latin typeface="Segoe UI"/>
              </a:defRPr>
            </a:pPr>
            <a:r>
              <a:rPr dirty="0"/>
              <a:t>6. Analytics Engine Metric Calculations</a:t>
            </a:r>
          </a:p>
          <a:p>
            <a:pPr algn="l">
              <a:defRPr sz="1000" b="0">
                <a:solidFill>
                  <a:srgbClr val="1E1E24"/>
                </a:solidFill>
                <a:latin typeface="Segoe UI"/>
              </a:defRPr>
            </a:pPr>
            <a:r>
              <a:rPr dirty="0"/>
              <a:t>7. </a:t>
            </a:r>
            <a:r>
              <a:rPr dirty="0" err="1"/>
              <a:t>ChromaDB</a:t>
            </a:r>
            <a:r>
              <a:rPr dirty="0"/>
              <a:t> Cosine Vector Queries</a:t>
            </a:r>
          </a:p>
          <a:p>
            <a:pPr algn="l">
              <a:defRPr sz="1000" b="0">
                <a:solidFill>
                  <a:srgbClr val="1E1E24"/>
                </a:solidFill>
                <a:latin typeface="Segoe UI"/>
              </a:defRPr>
            </a:pPr>
            <a:r>
              <a:rPr dirty="0"/>
              <a:t>8. User Authentication &amp; Password Hashing</a:t>
            </a:r>
          </a:p>
          <a:p>
            <a:pPr algn="l">
              <a:defRPr sz="1000" b="0">
                <a:solidFill>
                  <a:srgbClr val="1E1E24"/>
                </a:solidFill>
                <a:latin typeface="Segoe UI"/>
              </a:defRPr>
            </a:pPr>
            <a:r>
              <a:rPr dirty="0"/>
              <a:t>9. PySide6 GUI Component Initialization</a:t>
            </a:r>
          </a:p>
        </p:txBody>
      </p:sp>
      <p:sp>
        <p:nvSpPr>
          <p:cNvPr id="12" name="Rounded Rectangle 11"/>
          <p:cNvSpPr/>
          <p:nvPr/>
        </p:nvSpPr>
        <p:spPr>
          <a:xfrm>
            <a:off x="4297680" y="1554480"/>
            <a:ext cx="3566160" cy="4572000"/>
          </a:xfrm>
          <a:prstGeom prst="roundRect">
            <a:avLst/>
          </a:prstGeom>
          <a:solidFill>
            <a:srgbClr val="E7F1FD"/>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0560" y="1737360"/>
            <a:ext cx="3200400" cy="502920"/>
          </a:xfrm>
          <a:prstGeom prst="rect">
            <a:avLst/>
          </a:prstGeom>
          <a:noFill/>
        </p:spPr>
        <p:txBody>
          <a:bodyPr wrap="square" lIns="36576" tIns="36576" rIns="36576" bIns="36576">
            <a:spAutoFit/>
          </a:bodyPr>
          <a:lstStyle/>
          <a:p>
            <a:pPr algn="l">
              <a:defRPr sz="1200" b="1">
                <a:solidFill>
                  <a:srgbClr val="1E1E24"/>
                </a:solidFill>
                <a:latin typeface="Segoe UI"/>
              </a:defRPr>
            </a:pPr>
            <a:r>
              <a:t>Key Expected Project Outcomes</a:t>
            </a:r>
          </a:p>
        </p:txBody>
      </p:sp>
      <p:sp>
        <p:nvSpPr>
          <p:cNvPr id="14" name="Rectangle 13"/>
          <p:cNvSpPr/>
          <p:nvPr/>
        </p:nvSpPr>
        <p:spPr>
          <a:xfrm>
            <a:off x="4480560" y="2286000"/>
            <a:ext cx="1371600" cy="36576"/>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480560" y="2423160"/>
            <a:ext cx="3200400" cy="3474720"/>
          </a:xfrm>
          <a:prstGeom prst="rect">
            <a:avLst/>
          </a:prstGeom>
          <a:noFill/>
        </p:spPr>
        <p:txBody>
          <a:bodyPr wrap="square" lIns="36576" tIns="36576" rIns="36576" bIns="36576">
            <a:spAutoFit/>
          </a:bodyPr>
          <a:lstStyle/>
          <a:p>
            <a:pPr algn="l">
              <a:defRPr sz="1000" b="0">
                <a:solidFill>
                  <a:srgbClr val="1E1E24"/>
                </a:solidFill>
                <a:latin typeface="Segoe UI"/>
              </a:defRPr>
            </a:pPr>
            <a:r>
              <a:t>Measurable productivity transformation:</a:t>
            </a:r>
          </a:p>
          <a:p>
            <a:pPr algn="l">
              <a:defRPr sz="1000" b="0">
                <a:solidFill>
                  <a:srgbClr val="1E1E24"/>
                </a:solidFill>
                <a:latin typeface="Segoe UI"/>
              </a:defRPr>
            </a:pPr>
            <a:endParaRPr/>
          </a:p>
          <a:p>
            <a:pPr algn="l">
              <a:defRPr sz="1000" b="0">
                <a:solidFill>
                  <a:srgbClr val="1E1E24"/>
                </a:solidFill>
                <a:latin typeface="Segoe UI"/>
              </a:defRPr>
            </a:pPr>
            <a:r>
              <a:t>• Zero Meeting Information Loss: Automatically captures all decisions, numbers, and deadlines.</a:t>
            </a:r>
          </a:p>
          <a:p>
            <a:pPr algn="l">
              <a:defRPr sz="1000" b="0">
                <a:solidFill>
                  <a:srgbClr val="1E1E24"/>
                </a:solidFill>
                <a:latin typeface="Segoe UI"/>
              </a:defRPr>
            </a:pPr>
            <a:endParaRPr/>
          </a:p>
          <a:p>
            <a:pPr algn="l">
              <a:defRPr sz="1000" b="0">
                <a:solidFill>
                  <a:srgbClr val="1E1E24"/>
                </a:solidFill>
                <a:latin typeface="Segoe UI"/>
              </a:defRPr>
            </a:pPr>
            <a:r>
              <a:t>• 100% On-Device Privacy: Local-first architecture prevents enterprise compliance breaches.</a:t>
            </a:r>
          </a:p>
          <a:p>
            <a:pPr algn="l">
              <a:defRPr sz="1000" b="0">
                <a:solidFill>
                  <a:srgbClr val="1E1E24"/>
                </a:solidFill>
                <a:latin typeface="Segoe UI"/>
              </a:defRPr>
            </a:pPr>
            <a:endParaRPr/>
          </a:p>
          <a:p>
            <a:pPr algn="l">
              <a:defRPr sz="1000" b="0">
                <a:solidFill>
                  <a:srgbClr val="1E1E24"/>
                </a:solidFill>
                <a:latin typeface="Segoe UI"/>
              </a:defRPr>
            </a:pPr>
            <a:r>
              <a:t>• Vernacular Dialect Inclusivity: Accurate Marathi and Hindi Devanagari transcription.</a:t>
            </a:r>
          </a:p>
          <a:p>
            <a:pPr algn="l">
              <a:defRPr sz="1000" b="0">
                <a:solidFill>
                  <a:srgbClr val="1E1E24"/>
                </a:solidFill>
                <a:latin typeface="Segoe UI"/>
              </a:defRPr>
            </a:pPr>
            <a:endParaRPr/>
          </a:p>
          <a:p>
            <a:pPr algn="l">
              <a:defRPr sz="1000" b="0">
                <a:solidFill>
                  <a:srgbClr val="1E1E24"/>
                </a:solidFill>
                <a:latin typeface="Segoe UI"/>
              </a:defRPr>
            </a:pPr>
            <a:r>
              <a:t>• Instant Information Recall: Sub-second conceptual search replaces manual note browsing.</a:t>
            </a:r>
          </a:p>
        </p:txBody>
      </p:sp>
      <p:sp>
        <p:nvSpPr>
          <p:cNvPr id="16" name="Rounded Rectangle 15"/>
          <p:cNvSpPr/>
          <p:nvPr/>
        </p:nvSpPr>
        <p:spPr>
          <a:xfrm>
            <a:off x="8001000" y="1554480"/>
            <a:ext cx="3566160" cy="4572000"/>
          </a:xfrm>
          <a:prstGeom prst="roundRect">
            <a:avLst/>
          </a:prstGeom>
          <a:solidFill>
            <a:srgbClr val="FDF1E4"/>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3880" y="1737360"/>
            <a:ext cx="3200400" cy="502920"/>
          </a:xfrm>
          <a:prstGeom prst="rect">
            <a:avLst/>
          </a:prstGeom>
          <a:noFill/>
        </p:spPr>
        <p:txBody>
          <a:bodyPr wrap="square" lIns="36576" tIns="36576" rIns="36576" bIns="36576">
            <a:spAutoFit/>
          </a:bodyPr>
          <a:lstStyle/>
          <a:p>
            <a:pPr algn="l">
              <a:defRPr sz="1200" b="1">
                <a:solidFill>
                  <a:srgbClr val="1E1E24"/>
                </a:solidFill>
                <a:latin typeface="Segoe UI"/>
              </a:defRPr>
            </a:pPr>
            <a:r>
              <a:t>Future Roadmap (Phase 5 Packaging)</a:t>
            </a:r>
          </a:p>
        </p:txBody>
      </p:sp>
      <p:sp>
        <p:nvSpPr>
          <p:cNvPr id="18" name="Rectangle 17"/>
          <p:cNvSpPr/>
          <p:nvPr/>
        </p:nvSpPr>
        <p:spPr>
          <a:xfrm>
            <a:off x="8183880" y="2286000"/>
            <a:ext cx="1371600" cy="36576"/>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183880" y="2423160"/>
            <a:ext cx="3200400" cy="3474720"/>
          </a:xfrm>
          <a:prstGeom prst="rect">
            <a:avLst/>
          </a:prstGeom>
          <a:noFill/>
        </p:spPr>
        <p:txBody>
          <a:bodyPr wrap="square" lIns="36576" tIns="36576" rIns="36576" bIns="36576">
            <a:spAutoFit/>
          </a:bodyPr>
          <a:lstStyle/>
          <a:p>
            <a:pPr algn="l">
              <a:defRPr sz="1000" b="0">
                <a:solidFill>
                  <a:srgbClr val="1E1E24"/>
                </a:solidFill>
                <a:latin typeface="Segoe UI"/>
              </a:defRPr>
            </a:pPr>
            <a:r>
              <a:t>Path to standalone distribution:</a:t>
            </a:r>
          </a:p>
          <a:p>
            <a:pPr algn="l">
              <a:defRPr sz="1000" b="0">
                <a:solidFill>
                  <a:srgbClr val="1E1E24"/>
                </a:solidFill>
                <a:latin typeface="Segoe UI"/>
              </a:defRPr>
            </a:pPr>
            <a:endParaRPr/>
          </a:p>
          <a:p>
            <a:pPr algn="l">
              <a:defRPr sz="1000" b="0">
                <a:solidFill>
                  <a:srgbClr val="1E1E24"/>
                </a:solidFill>
                <a:latin typeface="Segoe UI"/>
              </a:defRPr>
            </a:pPr>
            <a:r>
              <a:t>• Standalone Windows Executable: Bundle Python runtime, PySide6, and CTranslate2 DLLs into a single VoiceNote.exe via PyInstaller.</a:t>
            </a:r>
          </a:p>
          <a:p>
            <a:pPr algn="l">
              <a:defRPr sz="1000" b="0">
                <a:solidFill>
                  <a:srgbClr val="1E1E24"/>
                </a:solidFill>
                <a:latin typeface="Segoe UI"/>
              </a:defRPr>
            </a:pPr>
            <a:endParaRPr/>
          </a:p>
          <a:p>
            <a:pPr algn="l">
              <a:defRPr sz="1000" b="0">
                <a:solidFill>
                  <a:srgbClr val="1E1E24"/>
                </a:solidFill>
                <a:latin typeface="Segoe UI"/>
              </a:defRPr>
            </a:pPr>
            <a:r>
              <a:t>• Inno Setup Windows Installer: Seamless installer wizard with desktop shortcuts and uninstaller logic.</a:t>
            </a:r>
          </a:p>
          <a:p>
            <a:pPr algn="l">
              <a:defRPr sz="1000" b="0">
                <a:solidFill>
                  <a:srgbClr val="1E1E24"/>
                </a:solidFill>
                <a:latin typeface="Segoe UI"/>
              </a:defRPr>
            </a:pPr>
            <a:endParaRPr/>
          </a:p>
          <a:p>
            <a:pPr algn="l">
              <a:defRPr sz="1000" b="0">
                <a:solidFill>
                  <a:srgbClr val="1E1E24"/>
                </a:solidFill>
                <a:latin typeface="Segoe UI"/>
              </a:defRPr>
            </a:pPr>
            <a:r>
              <a:t>• Local Neural Diarization: GPU-accelerated PyAnnote speaker separation.</a:t>
            </a:r>
          </a:p>
          <a:p>
            <a:pPr algn="l">
              <a:defRPr sz="1000" b="0">
                <a:solidFill>
                  <a:srgbClr val="1E1E24"/>
                </a:solidFill>
                <a:latin typeface="Segoe UI"/>
              </a:defRPr>
            </a:pPr>
            <a:endParaRPr/>
          </a:p>
          <a:p>
            <a:pPr algn="l">
              <a:defRPr sz="1000" b="0">
                <a:solidFill>
                  <a:srgbClr val="1E1E24"/>
                </a:solidFill>
                <a:latin typeface="Segoe UI"/>
              </a:defRPr>
            </a:pPr>
            <a:r>
              <a:t>• Encrypted Vault: Optional AES-256 resting encryption for local recordings.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2011680" y="1097280"/>
            <a:ext cx="8165592" cy="4663440"/>
          </a:xfrm>
          <a:prstGeom prst="roundRect">
            <a:avLst/>
          </a:prstGeom>
          <a:solidFill>
            <a:srgbClr val="FFFFFF"/>
          </a:solidFill>
          <a:ln w="12700">
            <a:solidFill>
              <a:srgbClr val="D0D7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0" y="1463040"/>
            <a:ext cx="7616952" cy="822960"/>
          </a:xfrm>
          <a:prstGeom prst="rect">
            <a:avLst/>
          </a:prstGeom>
          <a:noFill/>
        </p:spPr>
        <p:txBody>
          <a:bodyPr wrap="square" lIns="36576" tIns="36576" rIns="36576" bIns="36576">
            <a:spAutoFit/>
          </a:bodyPr>
          <a:lstStyle/>
          <a:p>
            <a:pPr algn="ctr">
              <a:defRPr sz="3600" b="1">
                <a:solidFill>
                  <a:srgbClr val="4A3E72"/>
                </a:solidFill>
                <a:latin typeface="Segoe UI"/>
              </a:defRPr>
            </a:pPr>
            <a:r>
              <a:t>VoiceNote</a:t>
            </a:r>
          </a:p>
        </p:txBody>
      </p:sp>
      <p:sp>
        <p:nvSpPr>
          <p:cNvPr id="5" name="TextBox 4"/>
          <p:cNvSpPr txBox="1"/>
          <p:nvPr/>
        </p:nvSpPr>
        <p:spPr>
          <a:xfrm>
            <a:off x="2286000" y="2286000"/>
            <a:ext cx="7616952" cy="365760"/>
          </a:xfrm>
          <a:prstGeom prst="rect">
            <a:avLst/>
          </a:prstGeom>
          <a:noFill/>
        </p:spPr>
        <p:txBody>
          <a:bodyPr wrap="square" lIns="36576" tIns="36576" rIns="36576" bIns="36576">
            <a:spAutoFit/>
          </a:bodyPr>
          <a:lstStyle/>
          <a:p>
            <a:pPr algn="ctr">
              <a:defRPr sz="1500" b="1">
                <a:solidFill>
                  <a:srgbClr val="27A6BE"/>
                </a:solidFill>
                <a:latin typeface="Segoe UI"/>
              </a:defRPr>
            </a:pPr>
            <a:r>
              <a:t>LISTEN.  UNDERSTAND.  ORGANIZE.  ACT.</a:t>
            </a:r>
          </a:p>
        </p:txBody>
      </p:sp>
      <p:sp>
        <p:nvSpPr>
          <p:cNvPr id="6" name="TextBox 5"/>
          <p:cNvSpPr txBox="1"/>
          <p:nvPr/>
        </p:nvSpPr>
        <p:spPr>
          <a:xfrm>
            <a:off x="2286000" y="2743200"/>
            <a:ext cx="7616952" cy="548640"/>
          </a:xfrm>
          <a:prstGeom prst="rect">
            <a:avLst/>
          </a:prstGeom>
          <a:noFill/>
        </p:spPr>
        <p:txBody>
          <a:bodyPr wrap="square" lIns="36576" tIns="36576" rIns="36576" bIns="36576">
            <a:spAutoFit/>
          </a:bodyPr>
          <a:lstStyle/>
          <a:p>
            <a:pPr algn="ctr">
              <a:defRPr sz="1200" b="0">
                <a:solidFill>
                  <a:srgbClr val="555560"/>
                </a:solidFill>
                <a:latin typeface="Segoe UI"/>
              </a:defRPr>
            </a:pPr>
            <a:r>
              <a:t>Multi-Functional Voice Intelligence System</a:t>
            </a:r>
          </a:p>
          <a:p>
            <a:pPr algn="ctr">
              <a:defRPr sz="1200" b="0">
                <a:solidFill>
                  <a:srgbClr val="555560"/>
                </a:solidFill>
                <a:latin typeface="Segoe UI"/>
              </a:defRPr>
            </a:pPr>
            <a:r>
              <a:t>Privacy-First Hybrid Dual-Database &amp; File Storage Architecture</a:t>
            </a:r>
          </a:p>
        </p:txBody>
      </p:sp>
      <p:sp>
        <p:nvSpPr>
          <p:cNvPr id="7" name="Rectangle 6"/>
          <p:cNvSpPr/>
          <p:nvPr/>
        </p:nvSpPr>
        <p:spPr>
          <a:xfrm>
            <a:off x="5175504" y="3474720"/>
            <a:ext cx="1828800" cy="36576"/>
          </a:xfrm>
          <a:prstGeom prst="rect">
            <a:avLst/>
          </a:prstGeom>
          <a:solidFill>
            <a:srgbClr val="27A6BE"/>
          </a:solidFill>
          <a:ln>
            <a:solidFill>
              <a:srgbClr val="27A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86000" y="3657600"/>
            <a:ext cx="7616952" cy="731520"/>
          </a:xfrm>
          <a:prstGeom prst="rect">
            <a:avLst/>
          </a:prstGeom>
          <a:noFill/>
        </p:spPr>
        <p:txBody>
          <a:bodyPr wrap="square" lIns="36576" tIns="36576" rIns="36576" bIns="36576">
            <a:spAutoFit/>
          </a:bodyPr>
          <a:lstStyle/>
          <a:p>
            <a:pPr algn="ctr">
              <a:defRPr sz="2000" b="1">
                <a:solidFill>
                  <a:srgbClr val="1E1E24"/>
                </a:solidFill>
                <a:latin typeface="Segoe UI"/>
              </a:defRPr>
            </a:pPr>
            <a:r>
              <a:t>Thank You!</a:t>
            </a:r>
          </a:p>
          <a:p>
            <a:pPr algn="ctr">
              <a:defRPr sz="2000" b="1">
                <a:solidFill>
                  <a:srgbClr val="1E1E24"/>
                </a:solidFill>
                <a:latin typeface="Segoe UI"/>
              </a:defRPr>
            </a:pPr>
            <a:r>
              <a:t>Questions &amp; Open Discussion</a:t>
            </a:r>
          </a:p>
        </p:txBody>
      </p:sp>
      <p:sp>
        <p:nvSpPr>
          <p:cNvPr id="9" name="TextBox 8"/>
          <p:cNvSpPr txBox="1"/>
          <p:nvPr/>
        </p:nvSpPr>
        <p:spPr>
          <a:xfrm>
            <a:off x="2286000" y="4572000"/>
            <a:ext cx="7616952" cy="731520"/>
          </a:xfrm>
          <a:prstGeom prst="rect">
            <a:avLst/>
          </a:prstGeom>
          <a:noFill/>
        </p:spPr>
        <p:txBody>
          <a:bodyPr wrap="square" lIns="36576" tIns="36576" rIns="36576" bIns="36576">
            <a:spAutoFit/>
          </a:bodyPr>
          <a:lstStyle/>
          <a:p>
            <a:pPr algn="ctr">
              <a:defRPr sz="1100" b="0">
                <a:solidFill>
                  <a:srgbClr val="555560"/>
                </a:solidFill>
                <a:latin typeface="Segoe UI"/>
              </a:defRPr>
            </a:pPr>
            <a:r>
              <a:t>GitHub Repository: https://github.com/Samar-365/VoiceNote</a:t>
            </a:r>
          </a:p>
          <a:p>
            <a:pPr algn="ctr">
              <a:defRPr sz="1100" b="0">
                <a:solidFill>
                  <a:srgbClr val="555560"/>
                </a:solidFill>
                <a:latin typeface="Segoe UI"/>
              </a:defRPr>
            </a:pPr>
            <a:r>
              <a:t>Project Team: Tejas Rawool  •  Samar Shetye  •  Atharv Pavar</a:t>
            </a:r>
          </a:p>
          <a:p>
            <a:pPr algn="ctr">
              <a:defRPr sz="1100" b="0">
                <a:solidFill>
                  <a:srgbClr val="555560"/>
                </a:solidFill>
                <a:latin typeface="Segoe UI"/>
              </a:defRPr>
            </a:pPr>
            <a:r>
              <a:t>Guided by: Prof. Omkar Dike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240</TotalTime>
  <Words>1946</Words>
  <Application>Microsoft Office PowerPoint</Application>
  <PresentationFormat>Widescreen</PresentationFormat>
  <Paragraphs>287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VoiceNote — Multi-Functional Voice Intelligence System</dc:title>
  <dc:subject>Refined Semester VII project presentation with detailed architecture</dc:subject>
  <dc:creator>Tejas Rawool, Samar Shetye, Atharv Pavar</dc:creator>
  <cp:keywords>VoiceNote, voice intelligence, Whisper, Gemini, FastAPI, Next.js, PostgreSQL, pgvector</cp:keywords>
  <dc:description>generated using python-pptx</dc:description>
  <cp:lastModifiedBy>Tejas Rawool</cp:lastModifiedBy>
  <cp:revision>4</cp:revision>
  <dcterms:created xsi:type="dcterms:W3CDTF">2013-01-27T09:14:16Z</dcterms:created>
  <dcterms:modified xsi:type="dcterms:W3CDTF">2026-10-27T17:00:28Z</dcterms:modified>
  <cp:category/>
</cp:coreProperties>
</file>